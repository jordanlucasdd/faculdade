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t-B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nvSpPr>
        <p:spPr>
          <a:xfrm>
            <a:off x="4037025" y="8846423"/>
            <a:ext cx="3082354" cy="457923"/>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50675" lIns="97475" spcFirstLastPara="1" rIns="97475" wrap="square" tIns="50675">
            <a:noAutofit/>
          </a:bodyPr>
          <a:lstStyle/>
          <a:p>
            <a:pPr indent="0" lvl="0" marL="0" marR="0" rtl="0" algn="r">
              <a:spcBef>
                <a:spcPts val="0"/>
              </a:spcBef>
              <a:spcAft>
                <a:spcPts val="0"/>
              </a:spcAft>
              <a:buNone/>
            </a:pPr>
            <a:fld id="{00000000-1234-1234-1234-123412341234}" type="slidenum">
              <a:rPr b="0" i="0" lang="pt-BR" sz="2400" u="none" cap="none" strike="noStrike">
                <a:solidFill>
                  <a:schemeClr val="dk1"/>
                </a:solidFill>
                <a:latin typeface="Times New Roman"/>
                <a:ea typeface="Times New Roman"/>
                <a:cs typeface="Times New Roman"/>
                <a:sym typeface="Times New Roman"/>
              </a:rPr>
              <a:t>‹#›</a:t>
            </a:fld>
            <a:endParaRPr b="0" i="0" sz="1300" u="none" cap="none" strike="noStrike">
              <a:solidFill>
                <a:srgbClr val="000000"/>
              </a:solidFill>
              <a:latin typeface="Calibri"/>
              <a:ea typeface="Calibri"/>
              <a:cs typeface="Calibri"/>
              <a:sym typeface="Calibri"/>
            </a:endParaRPr>
          </a:p>
        </p:txBody>
      </p:sp>
      <p:sp>
        <p:nvSpPr>
          <p:cNvPr id="86" name="Google Shape;86;p1:notes"/>
          <p:cNvSpPr/>
          <p:nvPr/>
        </p:nvSpPr>
        <p:spPr>
          <a:xfrm>
            <a:off x="4037024" y="8846423"/>
            <a:ext cx="3083948" cy="460812"/>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50675" lIns="97475" spcFirstLastPara="1" rIns="97475" wrap="square" tIns="50675">
            <a:noAutofit/>
          </a:bodyPr>
          <a:lstStyle/>
          <a:p>
            <a:pPr indent="0" lvl="0" marL="0" marR="0" rtl="0" algn="r">
              <a:spcBef>
                <a:spcPts val="0"/>
              </a:spcBef>
              <a:spcAft>
                <a:spcPts val="0"/>
              </a:spcAft>
              <a:buNone/>
            </a:pPr>
            <a:fld id="{00000000-1234-1234-1234-123412341234}" type="slidenum">
              <a:rPr b="0" i="0" lang="pt-BR" sz="2400" u="none" cap="none" strike="noStrike">
                <a:solidFill>
                  <a:schemeClr val="dk1"/>
                </a:solidFill>
                <a:latin typeface="Times New Roman"/>
                <a:ea typeface="Times New Roman"/>
                <a:cs typeface="Times New Roman"/>
                <a:sym typeface="Times New Roman"/>
              </a:rPr>
              <a:t>‹#›</a:t>
            </a:fld>
            <a:endParaRPr b="0" i="0" sz="1300" u="none" cap="none" strike="noStrike">
              <a:solidFill>
                <a:srgbClr val="000000"/>
              </a:solidFill>
              <a:latin typeface="Calibri"/>
              <a:ea typeface="Calibri"/>
              <a:cs typeface="Calibri"/>
              <a:sym typeface="Calibri"/>
            </a:endParaRPr>
          </a:p>
        </p:txBody>
      </p:sp>
      <p:sp>
        <p:nvSpPr>
          <p:cNvPr id="87" name="Google Shape;87;p1:notes"/>
          <p:cNvSpPr/>
          <p:nvPr/>
        </p:nvSpPr>
        <p:spPr>
          <a:xfrm>
            <a:off x="4037024" y="8846423"/>
            <a:ext cx="3085542" cy="462256"/>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50675" lIns="97475" spcFirstLastPara="1" rIns="97475" wrap="square" tIns="50675">
            <a:noAutofit/>
          </a:bodyPr>
          <a:lstStyle/>
          <a:p>
            <a:pPr indent="0" lvl="0" marL="0" marR="0" rtl="0" algn="r">
              <a:spcBef>
                <a:spcPts val="0"/>
              </a:spcBef>
              <a:spcAft>
                <a:spcPts val="0"/>
              </a:spcAft>
              <a:buNone/>
            </a:pPr>
            <a:fld id="{00000000-1234-1234-1234-123412341234}" type="slidenum">
              <a:rPr b="0" i="0" lang="pt-BR" sz="2400" u="none" cap="none" strike="noStrike">
                <a:solidFill>
                  <a:schemeClr val="dk1"/>
                </a:solidFill>
                <a:latin typeface="Times New Roman"/>
                <a:ea typeface="Times New Roman"/>
                <a:cs typeface="Times New Roman"/>
                <a:sym typeface="Times New Roman"/>
              </a:rPr>
              <a:t>‹#›</a:t>
            </a:fld>
            <a:endParaRPr b="0" i="0" sz="1300" u="none" cap="none" strike="noStrike">
              <a:solidFill>
                <a:srgbClr val="000000"/>
              </a:solidFill>
              <a:latin typeface="Calibri"/>
              <a:ea typeface="Calibri"/>
              <a:cs typeface="Calibri"/>
              <a:sym typeface="Calibri"/>
            </a:endParaRPr>
          </a:p>
        </p:txBody>
      </p:sp>
      <p:sp>
        <p:nvSpPr>
          <p:cNvPr id="88" name="Google Shape;88;p1:notes"/>
          <p:cNvSpPr/>
          <p:nvPr/>
        </p:nvSpPr>
        <p:spPr>
          <a:xfrm>
            <a:off x="4037025" y="8846423"/>
            <a:ext cx="3087135" cy="463701"/>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50675" lIns="97475" spcFirstLastPara="1" rIns="97475" wrap="square" tIns="50675">
            <a:noAutofit/>
          </a:bodyPr>
          <a:lstStyle/>
          <a:p>
            <a:pPr indent="0" lvl="0" marL="0" marR="0" rtl="0" algn="r">
              <a:spcBef>
                <a:spcPts val="0"/>
              </a:spcBef>
              <a:spcAft>
                <a:spcPts val="0"/>
              </a:spcAft>
              <a:buNone/>
            </a:pPr>
            <a:fld id="{00000000-1234-1234-1234-123412341234}" type="slidenum">
              <a:rPr b="0" i="0" lang="pt-BR" sz="2400" u="none" cap="none" strike="noStrike">
                <a:solidFill>
                  <a:schemeClr val="dk1"/>
                </a:solidFill>
                <a:latin typeface="Times New Roman"/>
                <a:ea typeface="Times New Roman"/>
                <a:cs typeface="Times New Roman"/>
                <a:sym typeface="Times New Roman"/>
              </a:rPr>
              <a:t>‹#›</a:t>
            </a:fld>
            <a:endParaRPr b="0" i="0" sz="1300" u="none" cap="none" strike="noStrike">
              <a:solidFill>
                <a:srgbClr val="000000"/>
              </a:solidFill>
              <a:latin typeface="Calibri"/>
              <a:ea typeface="Calibri"/>
              <a:cs typeface="Calibri"/>
              <a:sym typeface="Calibri"/>
            </a:endParaRPr>
          </a:p>
        </p:txBody>
      </p:sp>
      <p:sp>
        <p:nvSpPr>
          <p:cNvPr id="89" name="Google Shape;8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90" name="Google Shape;90;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bac102499c_0_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gbac102499c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be10a82504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gbe10a8250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be10a82504_0_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gbe10a82504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be10a82504_0_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be10a82504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be10a82504_0_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gbe10a82504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be10a82504_0_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be10a82504_0_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be10a82504_0_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be10a82504_0_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be10a82504_0_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gbe10a82504_0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be10a82504_0_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be10a82504_0_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be10a82504_0_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be10a82504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be10a82504_0_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be10a82504_0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be10a82504_0_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be10a82504_0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be10a82504_0_1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gbe10a82504_0_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be10a82504_0_1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be10a82504_0_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be10a82504_0_1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be10a82504_0_1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be10a82504_0_1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be10a82504_0_1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c08ab7b3ae_3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c08ab7b3ae_3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be10a82504_0_1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gbe10a82504_0_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be10a82504_0_1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be10a82504_0_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be10a82504_0_1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gbe10a82504_0_1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c2915956e0_0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c2915956e0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c2915956e0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gc2915956e0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c2915956e0_0_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gc2915956e0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c2915956e0_0_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gc2915956e0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c2915956e0_0_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gc2915956e0_0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c2915956e0_0_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gc2915956e0_0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c2915956e0_0_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gc2915956e0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c2915956e0_0_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gc2915956e0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c2915956e0_0_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gc2915956e0_0_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c2915956e0_0_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gc2915956e0_0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c2915956e0_0_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gc2915956e0_0_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c2915956e0_0_1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gc2915956e0_0_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c2915956e0_0_1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gc2915956e0_0_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c2915956e0_0_1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gc2915956e0_0_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c2915956e0_0_1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gc2915956e0_0_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c2915956e0_0_1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gc2915956e0_0_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c2915956e0_0_1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gc2915956e0_0_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p:cSld name="Somente título">
    <p:spTree>
      <p:nvGrpSpPr>
        <p:cNvPr id="18" name="Shape 18"/>
        <p:cNvGrpSpPr/>
        <p:nvPr/>
      </p:nvGrpSpPr>
      <p:grpSpPr>
        <a:xfrm>
          <a:off x="0" y="0"/>
          <a:ext cx="0" cy="0"/>
          <a:chOff x="0" y="0"/>
          <a:chExt cx="0" cy="0"/>
        </a:xfrm>
      </p:grpSpPr>
      <p:sp>
        <p:nvSpPr>
          <p:cNvPr id="19" name="Google Shape;19;p3"/>
          <p:cNvSpPr txBox="1"/>
          <p:nvPr>
            <p:ph idx="12" type="sldNum"/>
          </p:nvPr>
        </p:nvSpPr>
        <p:spPr>
          <a:xfrm>
            <a:off x="11064552" y="6356351"/>
            <a:ext cx="93610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2000" u="none" cap="none" strike="noStrike">
                <a:solidFill>
                  <a:schemeClr val="dk1"/>
                </a:solidFill>
                <a:latin typeface="Calibri"/>
                <a:ea typeface="Calibri"/>
                <a:cs typeface="Calibri"/>
                <a:sym typeface="Calibri"/>
              </a:defRPr>
            </a:lvl1pPr>
            <a:lvl2pPr indent="0" lvl="1" marL="0" algn="r">
              <a:spcBef>
                <a:spcPts val="0"/>
              </a:spcBef>
              <a:buNone/>
              <a:defRPr b="0" i="0" sz="2000" u="none" cap="none" strike="noStrike">
                <a:solidFill>
                  <a:schemeClr val="dk1"/>
                </a:solidFill>
                <a:latin typeface="Calibri"/>
                <a:ea typeface="Calibri"/>
                <a:cs typeface="Calibri"/>
                <a:sym typeface="Calibri"/>
              </a:defRPr>
            </a:lvl2pPr>
            <a:lvl3pPr indent="0" lvl="2" marL="0" algn="r">
              <a:spcBef>
                <a:spcPts val="0"/>
              </a:spcBef>
              <a:buNone/>
              <a:defRPr b="0" i="0" sz="2000" u="none" cap="none" strike="noStrike">
                <a:solidFill>
                  <a:schemeClr val="dk1"/>
                </a:solidFill>
                <a:latin typeface="Calibri"/>
                <a:ea typeface="Calibri"/>
                <a:cs typeface="Calibri"/>
                <a:sym typeface="Calibri"/>
              </a:defRPr>
            </a:lvl3pPr>
            <a:lvl4pPr indent="0" lvl="3" marL="0" algn="r">
              <a:spcBef>
                <a:spcPts val="0"/>
              </a:spcBef>
              <a:buNone/>
              <a:defRPr b="0" i="0" sz="2000" u="none" cap="none" strike="noStrike">
                <a:solidFill>
                  <a:schemeClr val="dk1"/>
                </a:solidFill>
                <a:latin typeface="Calibri"/>
                <a:ea typeface="Calibri"/>
                <a:cs typeface="Calibri"/>
                <a:sym typeface="Calibri"/>
              </a:defRPr>
            </a:lvl4pPr>
            <a:lvl5pPr indent="0" lvl="4" marL="0" algn="r">
              <a:spcBef>
                <a:spcPts val="0"/>
              </a:spcBef>
              <a:buNone/>
              <a:defRPr b="0" i="0" sz="2000" u="none" cap="none" strike="noStrike">
                <a:solidFill>
                  <a:schemeClr val="dk1"/>
                </a:solidFill>
                <a:latin typeface="Calibri"/>
                <a:ea typeface="Calibri"/>
                <a:cs typeface="Calibri"/>
                <a:sym typeface="Calibri"/>
              </a:defRPr>
            </a:lvl5pPr>
            <a:lvl6pPr indent="0" lvl="5" marL="0" algn="r">
              <a:spcBef>
                <a:spcPts val="0"/>
              </a:spcBef>
              <a:buNone/>
              <a:defRPr b="0" i="0" sz="2000" u="none" cap="none" strike="noStrike">
                <a:solidFill>
                  <a:schemeClr val="dk1"/>
                </a:solidFill>
                <a:latin typeface="Calibri"/>
                <a:ea typeface="Calibri"/>
                <a:cs typeface="Calibri"/>
                <a:sym typeface="Calibri"/>
              </a:defRPr>
            </a:lvl6pPr>
            <a:lvl7pPr indent="0" lvl="6" marL="0" algn="r">
              <a:spcBef>
                <a:spcPts val="0"/>
              </a:spcBef>
              <a:buNone/>
              <a:defRPr b="0" i="0" sz="2000" u="none" cap="none" strike="noStrike">
                <a:solidFill>
                  <a:schemeClr val="dk1"/>
                </a:solidFill>
                <a:latin typeface="Calibri"/>
                <a:ea typeface="Calibri"/>
                <a:cs typeface="Calibri"/>
                <a:sym typeface="Calibri"/>
              </a:defRPr>
            </a:lvl7pPr>
            <a:lvl8pPr indent="0" lvl="7" marL="0" algn="r">
              <a:spcBef>
                <a:spcPts val="0"/>
              </a:spcBef>
              <a:buNone/>
              <a:defRPr b="0" i="0" sz="2000" u="none" cap="none" strike="noStrike">
                <a:solidFill>
                  <a:schemeClr val="dk1"/>
                </a:solidFill>
                <a:latin typeface="Calibri"/>
                <a:ea typeface="Calibri"/>
                <a:cs typeface="Calibri"/>
                <a:sym typeface="Calibri"/>
              </a:defRPr>
            </a:lvl8pPr>
            <a:lvl9pPr indent="0" lvl="8" marL="0" algn="r">
              <a:spcBef>
                <a:spcPts val="0"/>
              </a:spcBef>
              <a:buNone/>
              <a:defRPr b="0" i="0" sz="20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cxnSp>
        <p:nvCxnSpPr>
          <p:cNvPr id="20" name="Google Shape;20;p3"/>
          <p:cNvCxnSpPr/>
          <p:nvPr/>
        </p:nvCxnSpPr>
        <p:spPr>
          <a:xfrm>
            <a:off x="-35030" y="6521934"/>
            <a:ext cx="11099582" cy="0"/>
          </a:xfrm>
          <a:prstGeom prst="straightConnector1">
            <a:avLst/>
          </a:prstGeom>
          <a:noFill/>
          <a:ln cap="flat" cmpd="sng" w="38100">
            <a:solidFill>
              <a:srgbClr val="4A7DBA"/>
            </a:solidFill>
            <a:prstDash val="solid"/>
            <a:round/>
            <a:headEnd len="sm" w="sm" type="none"/>
            <a:tailEnd len="sm" w="sm" type="none"/>
          </a:ln>
        </p:spPr>
      </p:cxnSp>
      <p:sp>
        <p:nvSpPr>
          <p:cNvPr id="21" name="Google Shape;21;p3"/>
          <p:cNvSpPr txBox="1"/>
          <p:nvPr/>
        </p:nvSpPr>
        <p:spPr>
          <a:xfrm>
            <a:off x="4332632" y="6521934"/>
            <a:ext cx="352673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pt-BR" sz="1800" u="none" cap="none" strike="noStrike">
                <a:solidFill>
                  <a:schemeClr val="dk1"/>
                </a:solidFill>
                <a:latin typeface="Calibri"/>
                <a:ea typeface="Calibri"/>
                <a:cs typeface="Calibri"/>
                <a:sym typeface="Calibri"/>
              </a:rPr>
              <a:t>Prof. Tiago José Menezes Gonçalves</a:t>
            </a:r>
            <a:endParaRPr/>
          </a:p>
        </p:txBody>
      </p:sp>
      <p:pic>
        <p:nvPicPr>
          <p:cNvPr descr="http://www.abepro.org.br/imagens/websites/1/Simbolo%20Eng%20Produ%C3%A7%C3%A3o.png" id="22" name="Google Shape;22;p3"/>
          <p:cNvPicPr preferRelativeResize="0"/>
          <p:nvPr/>
        </p:nvPicPr>
        <p:blipFill rotWithShape="1">
          <a:blip r:embed="rId2">
            <a:alphaModFix/>
          </a:blip>
          <a:srcRect b="0" l="0" r="0" t="0"/>
          <a:stretch/>
        </p:blipFill>
        <p:spPr>
          <a:xfrm>
            <a:off x="11106447" y="-2892"/>
            <a:ext cx="1038225" cy="1020763"/>
          </a:xfrm>
          <a:prstGeom prst="rect">
            <a:avLst/>
          </a:prstGeom>
          <a:solidFill>
            <a:schemeClr val="lt1"/>
          </a:solidFill>
          <a:ln>
            <a:noFill/>
          </a:ln>
        </p:spPr>
      </p:pic>
      <p:cxnSp>
        <p:nvCxnSpPr>
          <p:cNvPr id="23" name="Google Shape;23;p3"/>
          <p:cNvCxnSpPr/>
          <p:nvPr/>
        </p:nvCxnSpPr>
        <p:spPr>
          <a:xfrm>
            <a:off x="-6750" y="1017870"/>
            <a:ext cx="12198750" cy="1"/>
          </a:xfrm>
          <a:prstGeom prst="straightConnector1">
            <a:avLst/>
          </a:prstGeom>
          <a:noFill/>
          <a:ln cap="flat" cmpd="sng" w="38100">
            <a:solidFill>
              <a:srgbClr val="4A7DBA"/>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24" name="Shape 24"/>
        <p:cNvGrpSpPr/>
        <p:nvPr/>
      </p:nvGrpSpPr>
      <p:grpSpPr>
        <a:xfrm>
          <a:off x="0" y="0"/>
          <a:ext cx="0" cy="0"/>
          <a:chOff x="0" y="0"/>
          <a:chExt cx="0" cy="0"/>
        </a:xfrm>
      </p:grpSpPr>
      <p:sp>
        <p:nvSpPr>
          <p:cNvPr id="25" name="Google Shape;25;p4"/>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7" name="Google Shape;27;p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30" name="Shape 30"/>
        <p:cNvGrpSpPr/>
        <p:nvPr/>
      </p:nvGrpSpPr>
      <p:grpSpPr>
        <a:xfrm>
          <a:off x="0" y="0"/>
          <a:ext cx="0" cy="0"/>
          <a:chOff x="0" y="0"/>
          <a:chExt cx="0" cy="0"/>
        </a:xfrm>
      </p:grpSpPr>
      <p:sp>
        <p:nvSpPr>
          <p:cNvPr id="31" name="Google Shape;31;p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36" name="Shape 36"/>
        <p:cNvGrpSpPr/>
        <p:nvPr/>
      </p:nvGrpSpPr>
      <p:grpSpPr>
        <a:xfrm>
          <a:off x="0" y="0"/>
          <a:ext cx="0" cy="0"/>
          <a:chOff x="0" y="0"/>
          <a:chExt cx="0" cy="0"/>
        </a:xfrm>
      </p:grpSpPr>
      <p:sp>
        <p:nvSpPr>
          <p:cNvPr id="37" name="Google Shape;37;p6"/>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9" name="Google Shape;39;p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42" name="Shape 42"/>
        <p:cNvGrpSpPr/>
        <p:nvPr/>
      </p:nvGrpSpPr>
      <p:grpSpPr>
        <a:xfrm>
          <a:off x="0" y="0"/>
          <a:ext cx="0" cy="0"/>
          <a:chOff x="0" y="0"/>
          <a:chExt cx="0" cy="0"/>
        </a:xfrm>
      </p:grpSpPr>
      <p:sp>
        <p:nvSpPr>
          <p:cNvPr id="43" name="Google Shape;43;p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7"/>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5" name="Google Shape;45;p7"/>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6" name="Google Shape;46;p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9" name="Shape 49"/>
        <p:cNvGrpSpPr/>
        <p:nvPr/>
      </p:nvGrpSpPr>
      <p:grpSpPr>
        <a:xfrm>
          <a:off x="0" y="0"/>
          <a:ext cx="0" cy="0"/>
          <a:chOff x="0" y="0"/>
          <a:chExt cx="0" cy="0"/>
        </a:xfrm>
      </p:grpSpPr>
      <p:sp>
        <p:nvSpPr>
          <p:cNvPr id="50" name="Google Shape;50;p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2" name="Google Shape;52;p8"/>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3" name="Google Shape;53;p8"/>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4" name="Google Shape;54;p8"/>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5" name="Google Shape;55;p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2389717" y="612775"/>
            <a:ext cx="7315200" cy="41148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10"/>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833019" y="-1623217"/>
            <a:ext cx="4525963" cy="10972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285037" y="1828802"/>
            <a:ext cx="5851525" cy="2743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697037" y="-812799"/>
            <a:ext cx="5851525" cy="8026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3"/>
          <p:cNvPicPr preferRelativeResize="0"/>
          <p:nvPr/>
        </p:nvPicPr>
        <p:blipFill rotWithShape="1">
          <a:blip r:embed="rId3">
            <a:alphaModFix/>
          </a:blip>
          <a:srcRect b="0" l="0" r="0" t="0"/>
          <a:stretch/>
        </p:blipFill>
        <p:spPr>
          <a:xfrm>
            <a:off x="40384" y="1149614"/>
            <a:ext cx="12104288" cy="5591754"/>
          </a:xfrm>
          <a:prstGeom prst="rect">
            <a:avLst/>
          </a:prstGeom>
          <a:noFill/>
          <a:ln>
            <a:noFill/>
          </a:ln>
        </p:spPr>
      </p:pic>
      <p:pic>
        <p:nvPicPr>
          <p:cNvPr descr="http://www.abepro.org.br/imagens/websites/1/Simbolo%20Eng%20Produ%C3%A7%C3%A3o.png" id="93" name="Google Shape;93;p13"/>
          <p:cNvPicPr preferRelativeResize="0"/>
          <p:nvPr/>
        </p:nvPicPr>
        <p:blipFill rotWithShape="1">
          <a:blip r:embed="rId4">
            <a:alphaModFix/>
          </a:blip>
          <a:srcRect b="0" l="0" r="0" t="0"/>
          <a:stretch/>
        </p:blipFill>
        <p:spPr>
          <a:xfrm>
            <a:off x="11106447" y="38101"/>
            <a:ext cx="1038225" cy="1020763"/>
          </a:xfrm>
          <a:prstGeom prst="rect">
            <a:avLst/>
          </a:prstGeom>
          <a:solidFill>
            <a:schemeClr val="lt1"/>
          </a:solidFill>
          <a:ln>
            <a:noFill/>
          </a:ln>
        </p:spPr>
      </p:pic>
      <p:cxnSp>
        <p:nvCxnSpPr>
          <p:cNvPr id="94" name="Google Shape;94;p13"/>
          <p:cNvCxnSpPr/>
          <p:nvPr/>
        </p:nvCxnSpPr>
        <p:spPr>
          <a:xfrm>
            <a:off x="-6750" y="1058863"/>
            <a:ext cx="12198750" cy="1"/>
          </a:xfrm>
          <a:prstGeom prst="straightConnector1">
            <a:avLst/>
          </a:prstGeom>
          <a:noFill/>
          <a:ln cap="flat" cmpd="sng" w="38100">
            <a:solidFill>
              <a:srgbClr val="4A7DBA"/>
            </a:solidFill>
            <a:prstDash val="solid"/>
            <a:round/>
            <a:headEnd len="sm" w="sm" type="none"/>
            <a:tailEnd len="sm" w="sm" type="none"/>
          </a:ln>
        </p:spPr>
      </p:cxnSp>
      <p:sp>
        <p:nvSpPr>
          <p:cNvPr id="95" name="Google Shape;95;p13"/>
          <p:cNvSpPr/>
          <p:nvPr/>
        </p:nvSpPr>
        <p:spPr>
          <a:xfrm>
            <a:off x="2096786" y="2564904"/>
            <a:ext cx="7991484" cy="288032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pt-BR" sz="4000" u="none" cap="none" strike="noStrike">
                <a:solidFill>
                  <a:schemeClr val="dk2"/>
                </a:solidFill>
                <a:latin typeface="Calibri"/>
                <a:ea typeface="Calibri"/>
                <a:cs typeface="Calibri"/>
                <a:sym typeface="Calibri"/>
              </a:rPr>
              <a:t>Planejamento de Instalações</a:t>
            </a:r>
            <a:endParaRPr/>
          </a:p>
          <a:p>
            <a:pPr indent="0" lvl="0" marL="0" marR="0" rtl="0" algn="ctr">
              <a:spcBef>
                <a:spcPts val="0"/>
              </a:spcBef>
              <a:spcAft>
                <a:spcPts val="0"/>
              </a:spcAft>
              <a:buNone/>
            </a:pPr>
            <a:r>
              <a:t/>
            </a:r>
            <a:endParaRPr b="0" i="0" sz="1400" u="none" cap="none" strike="noStrike">
              <a:solidFill>
                <a:schemeClr val="dk2"/>
              </a:solidFill>
              <a:latin typeface="Calibri"/>
              <a:ea typeface="Calibri"/>
              <a:cs typeface="Calibri"/>
              <a:sym typeface="Calibri"/>
            </a:endParaRPr>
          </a:p>
          <a:p>
            <a:pPr indent="0" lvl="0" marL="0" marR="0" rtl="0" algn="ctr">
              <a:spcBef>
                <a:spcPts val="0"/>
              </a:spcBef>
              <a:spcAft>
                <a:spcPts val="0"/>
              </a:spcAft>
              <a:buNone/>
            </a:pPr>
            <a:r>
              <a:rPr b="1" lang="pt-BR" sz="2000">
                <a:solidFill>
                  <a:schemeClr val="dk1"/>
                </a:solidFill>
                <a:latin typeface="Calibri"/>
                <a:ea typeface="Calibri"/>
                <a:cs typeface="Calibri"/>
                <a:sym typeface="Calibri"/>
              </a:rPr>
              <a:t>Sistemas de Produção</a:t>
            </a:r>
            <a:endParaRPr b="0" i="0" sz="2000" u="none" cap="none" strike="noStrike">
              <a:solidFill>
                <a:schemeClr val="dk2"/>
              </a:solidFill>
              <a:latin typeface="Calibri"/>
              <a:ea typeface="Calibri"/>
              <a:cs typeface="Calibri"/>
              <a:sym typeface="Calibri"/>
            </a:endParaRPr>
          </a:p>
          <a:p>
            <a:pPr indent="0" lvl="0" marL="0" marR="0" rtl="0" algn="ctr">
              <a:spcBef>
                <a:spcPts val="0"/>
              </a:spcBef>
              <a:spcAft>
                <a:spcPts val="0"/>
              </a:spcAft>
              <a:buNone/>
            </a:pPr>
            <a:r>
              <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lang="pt-BR" sz="1800">
                <a:solidFill>
                  <a:schemeClr val="dk1"/>
                </a:solidFill>
                <a:latin typeface="Calibri"/>
                <a:ea typeface="Calibri"/>
                <a:cs typeface="Calibri"/>
                <a:sym typeface="Calibri"/>
              </a:rPr>
              <a:t>Jordan Lucas Duarte Dias</a:t>
            </a:r>
            <a:endParaRPr/>
          </a:p>
          <a:p>
            <a:pPr indent="0" lvl="0" marL="0" marR="0" rtl="0" algn="ctr">
              <a:spcBef>
                <a:spcPts val="0"/>
              </a:spcBef>
              <a:spcAft>
                <a:spcPts val="0"/>
              </a:spcAft>
              <a:buNone/>
            </a:pPr>
            <a:r>
              <a:rPr lang="pt-BR" sz="1800">
                <a:solidFill>
                  <a:schemeClr val="dk1"/>
                </a:solidFill>
                <a:latin typeface="Calibri"/>
                <a:ea typeface="Calibri"/>
                <a:cs typeface="Calibri"/>
                <a:sym typeface="Calibri"/>
              </a:rPr>
              <a:t>José Fernando Teixeira Caran</a:t>
            </a:r>
            <a:endParaRPr/>
          </a:p>
          <a:p>
            <a:pPr indent="0" lvl="0" marL="0" marR="0" rtl="0" algn="ctr">
              <a:spcBef>
                <a:spcPts val="0"/>
              </a:spcBef>
              <a:spcAft>
                <a:spcPts val="0"/>
              </a:spcAft>
              <a:buNone/>
            </a:pPr>
            <a:r>
              <a:t/>
            </a:r>
            <a:endParaRPr/>
          </a:p>
          <a:p>
            <a:pPr indent="0" lvl="0" marL="0" marR="0" rtl="0" algn="ctr">
              <a:spcBef>
                <a:spcPts val="0"/>
              </a:spcBef>
              <a:spcAft>
                <a:spcPts val="0"/>
              </a:spcAft>
              <a:buNone/>
            </a:pPr>
            <a:r>
              <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101" name="Google Shape;101;p14"/>
          <p:cNvSpPr txBox="1"/>
          <p:nvPr/>
        </p:nvSpPr>
        <p:spPr>
          <a:xfrm>
            <a:off x="214323" y="188650"/>
            <a:ext cx="3357600" cy="86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Introdução</a:t>
            </a:r>
            <a:endParaRPr b="1" sz="3200">
              <a:solidFill>
                <a:schemeClr val="dk2"/>
              </a:solidFill>
              <a:latin typeface="Calibri"/>
              <a:ea typeface="Calibri"/>
              <a:cs typeface="Calibri"/>
              <a:sym typeface="Calibri"/>
            </a:endParaRPr>
          </a:p>
        </p:txBody>
      </p:sp>
      <p:sp>
        <p:nvSpPr>
          <p:cNvPr id="102" name="Google Shape;102;p14"/>
          <p:cNvSpPr/>
          <p:nvPr/>
        </p:nvSpPr>
        <p:spPr>
          <a:xfrm>
            <a:off x="335350" y="1050550"/>
            <a:ext cx="11325300" cy="48855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1800"/>
              </a:spcBef>
              <a:spcAft>
                <a:spcPts val="0"/>
              </a:spcAft>
              <a:buNone/>
            </a:pPr>
            <a:r>
              <a:rPr b="1" lang="pt-BR" sz="2100">
                <a:solidFill>
                  <a:schemeClr val="dk1"/>
                </a:solidFill>
                <a:latin typeface="Calibri"/>
                <a:ea typeface="Calibri"/>
                <a:cs typeface="Calibri"/>
                <a:sym typeface="Calibri"/>
              </a:rPr>
              <a:t>O projeto de instalações para sistemas de produção é importante devido à dependência econômica da empresa em relação ao desempenho da produção e a eficácia do arranjo físico das instalações será influenciada por fatores como alterações no: </a:t>
            </a:r>
            <a:endParaRPr b="1" sz="2100">
              <a:solidFill>
                <a:schemeClr val="dk1"/>
              </a:solidFill>
              <a:latin typeface="Calibri"/>
              <a:ea typeface="Calibri"/>
              <a:cs typeface="Calibri"/>
              <a:sym typeface="Calibri"/>
            </a:endParaRPr>
          </a:p>
          <a:p>
            <a:pPr indent="-361950" lvl="0" marL="457200" marR="0" rtl="0" algn="just">
              <a:lnSpc>
                <a:spcPct val="150000"/>
              </a:lnSpc>
              <a:spcBef>
                <a:spcPts val="18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Mix e projeto dos produtos;</a:t>
            </a:r>
            <a:endParaRPr sz="2100">
              <a:solidFill>
                <a:schemeClr val="dk1"/>
              </a:solidFill>
              <a:latin typeface="Calibri"/>
              <a:ea typeface="Calibri"/>
              <a:cs typeface="Calibri"/>
              <a:sym typeface="Calibri"/>
            </a:endParaRPr>
          </a:p>
          <a:p>
            <a:pPr indent="-361950" lvl="0" marL="457200" marR="0" rtl="0" algn="just">
              <a:lnSpc>
                <a:spcPct val="150000"/>
              </a:lnSpc>
              <a:spcBef>
                <a:spcPts val="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 Materiais e tecnologia de processamento</a:t>
            </a:r>
            <a:endParaRPr sz="2100">
              <a:solidFill>
                <a:schemeClr val="dk1"/>
              </a:solidFill>
              <a:latin typeface="Calibri"/>
              <a:ea typeface="Calibri"/>
              <a:cs typeface="Calibri"/>
              <a:sym typeface="Calibri"/>
            </a:endParaRPr>
          </a:p>
          <a:p>
            <a:pPr indent="-361950" lvl="0" marL="457200" marR="0" rtl="0" algn="just">
              <a:lnSpc>
                <a:spcPct val="150000"/>
              </a:lnSpc>
              <a:spcBef>
                <a:spcPts val="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Tecnologia de manuseio, armazenagem e controle</a:t>
            </a:r>
            <a:endParaRPr sz="2100">
              <a:solidFill>
                <a:schemeClr val="dk1"/>
              </a:solidFill>
              <a:latin typeface="Calibri"/>
              <a:ea typeface="Calibri"/>
              <a:cs typeface="Calibri"/>
              <a:sym typeface="Calibri"/>
            </a:endParaRPr>
          </a:p>
          <a:p>
            <a:pPr indent="-361950" lvl="0" marL="457200" marR="0" rtl="0" algn="just">
              <a:lnSpc>
                <a:spcPct val="150000"/>
              </a:lnSpc>
              <a:spcBef>
                <a:spcPts val="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 Volumes de produção, programações e roteiros</a:t>
            </a:r>
            <a:endParaRPr sz="2100">
              <a:solidFill>
                <a:schemeClr val="dk1"/>
              </a:solidFill>
              <a:latin typeface="Calibri"/>
              <a:ea typeface="Calibri"/>
              <a:cs typeface="Calibri"/>
              <a:sym typeface="Calibri"/>
            </a:endParaRPr>
          </a:p>
          <a:p>
            <a:pPr indent="-361950" lvl="0" marL="457200" marR="0" rtl="0" algn="just">
              <a:lnSpc>
                <a:spcPct val="150000"/>
              </a:lnSpc>
              <a:spcBef>
                <a:spcPts val="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 Filosofias de gestão </a:t>
            </a:r>
            <a:endParaRPr sz="2100">
              <a:solidFill>
                <a:schemeClr val="dk1"/>
              </a:solidFill>
              <a:latin typeface="Calibri"/>
              <a:ea typeface="Calibri"/>
              <a:cs typeface="Calibri"/>
              <a:sym typeface="Calibri"/>
            </a:endParaRPr>
          </a:p>
        </p:txBody>
      </p:sp>
      <p:pic>
        <p:nvPicPr>
          <p:cNvPr id="103" name="Google Shape;103;p14"/>
          <p:cNvPicPr preferRelativeResize="0"/>
          <p:nvPr/>
        </p:nvPicPr>
        <p:blipFill>
          <a:blip r:embed="rId3">
            <a:alphaModFix/>
          </a:blip>
          <a:stretch>
            <a:fillRect/>
          </a:stretch>
        </p:blipFill>
        <p:spPr>
          <a:xfrm>
            <a:off x="7638025" y="3283722"/>
            <a:ext cx="4362525" cy="2906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ph idx="12" type="sldNum"/>
          </p:nvPr>
        </p:nvSpPr>
        <p:spPr>
          <a:xfrm>
            <a:off x="11064552" y="6356351"/>
            <a:ext cx="93610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109" name="Google Shape;109;p15"/>
          <p:cNvSpPr txBox="1"/>
          <p:nvPr/>
        </p:nvSpPr>
        <p:spPr>
          <a:xfrm>
            <a:off x="214323" y="188650"/>
            <a:ext cx="3357600" cy="86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Introdução</a:t>
            </a:r>
            <a:endParaRPr b="1" sz="3200">
              <a:solidFill>
                <a:schemeClr val="dk2"/>
              </a:solidFill>
              <a:latin typeface="Calibri"/>
              <a:ea typeface="Calibri"/>
              <a:cs typeface="Calibri"/>
              <a:sym typeface="Calibri"/>
            </a:endParaRPr>
          </a:p>
        </p:txBody>
      </p:sp>
      <p:sp>
        <p:nvSpPr>
          <p:cNvPr id="110" name="Google Shape;110;p15"/>
          <p:cNvSpPr/>
          <p:nvPr/>
        </p:nvSpPr>
        <p:spPr>
          <a:xfrm>
            <a:off x="321075" y="1260700"/>
            <a:ext cx="11325300" cy="4885500"/>
          </a:xfrm>
          <a:prstGeom prst="rect">
            <a:avLst/>
          </a:prstGeom>
          <a:noFill/>
          <a:ln>
            <a:noFill/>
          </a:ln>
        </p:spPr>
        <p:txBody>
          <a:bodyPr anchorCtr="0" anchor="t" bIns="45700" lIns="91425" spcFirstLastPara="1" rIns="91425" wrap="square" tIns="45700">
            <a:noAutofit/>
          </a:bodyPr>
          <a:lstStyle/>
          <a:p>
            <a:pPr indent="0" lvl="0" marL="0" marR="0" rtl="0" algn="just">
              <a:lnSpc>
                <a:spcPct val="200000"/>
              </a:lnSpc>
              <a:spcBef>
                <a:spcPts val="1800"/>
              </a:spcBef>
              <a:spcAft>
                <a:spcPts val="0"/>
              </a:spcAft>
              <a:buNone/>
            </a:pPr>
            <a:r>
              <a:rPr b="1" lang="pt-BR" sz="2100">
                <a:solidFill>
                  <a:schemeClr val="dk1"/>
                </a:solidFill>
                <a:latin typeface="Calibri"/>
                <a:ea typeface="Calibri"/>
                <a:cs typeface="Calibri"/>
                <a:sym typeface="Calibri"/>
              </a:rPr>
              <a:t>Muitos fatores externos afetam o processo de planejamento de instalações, como:</a:t>
            </a:r>
            <a:endParaRPr b="1"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Volume de produção;</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Diversidade da produção;</a:t>
            </a:r>
            <a:endParaRPr sz="2100">
              <a:solidFill>
                <a:schemeClr val="dk1"/>
              </a:solidFill>
              <a:latin typeface="Calibri"/>
              <a:ea typeface="Calibri"/>
              <a:cs typeface="Calibri"/>
              <a:sym typeface="Calibri"/>
            </a:endParaRPr>
          </a:p>
          <a:p>
            <a:pPr indent="-361950" lvl="0" marL="914400" marR="0" rtl="0" algn="just">
              <a:lnSpc>
                <a:spcPct val="20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Valor de cada produto  </a:t>
            </a:r>
            <a:endParaRPr sz="2100">
              <a:solidFill>
                <a:schemeClr val="dk1"/>
              </a:solidFill>
              <a:latin typeface="Calibri"/>
              <a:ea typeface="Calibri"/>
              <a:cs typeface="Calibri"/>
              <a:sym typeface="Calibri"/>
            </a:endParaRPr>
          </a:p>
          <a:p>
            <a:pPr indent="0" lvl="0" marL="0" marR="0" rtl="0" algn="just">
              <a:lnSpc>
                <a:spcPct val="150000"/>
              </a:lnSpc>
              <a:spcBef>
                <a:spcPts val="1800"/>
              </a:spcBef>
              <a:spcAft>
                <a:spcPts val="1000"/>
              </a:spcAft>
              <a:buNone/>
            </a:pPr>
            <a:r>
              <a:rPr b="1" lang="pt-BR" sz="2100">
                <a:solidFill>
                  <a:schemeClr val="dk1"/>
                </a:solidFill>
                <a:latin typeface="Calibri"/>
                <a:ea typeface="Calibri"/>
                <a:cs typeface="Calibri"/>
                <a:sym typeface="Calibri"/>
              </a:rPr>
              <a:t>Cada fator vai demandar tipos diferentes de instalações de produção, e instalações complexas podem exigir todos os tipos de sistemas de produção. </a:t>
            </a:r>
            <a:endParaRPr b="1" sz="2100">
              <a:solidFill>
                <a:schemeClr val="dk1"/>
              </a:solidFill>
              <a:latin typeface="Calibri"/>
              <a:ea typeface="Calibri"/>
              <a:cs typeface="Calibri"/>
              <a:sym typeface="Calibri"/>
            </a:endParaRPr>
          </a:p>
        </p:txBody>
      </p:sp>
      <p:pic>
        <p:nvPicPr>
          <p:cNvPr id="111" name="Google Shape;111;p15"/>
          <p:cNvPicPr preferRelativeResize="0"/>
          <p:nvPr/>
        </p:nvPicPr>
        <p:blipFill rotWithShape="1">
          <a:blip r:embed="rId3">
            <a:alphaModFix/>
          </a:blip>
          <a:srcRect b="3872" l="2338" r="2982" t="3474"/>
          <a:stretch/>
        </p:blipFill>
        <p:spPr>
          <a:xfrm>
            <a:off x="8918325" y="2242250"/>
            <a:ext cx="2728050" cy="1966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6"/>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117" name="Google Shape;117;p16"/>
          <p:cNvSpPr txBox="1"/>
          <p:nvPr/>
        </p:nvSpPr>
        <p:spPr>
          <a:xfrm>
            <a:off x="214323" y="188650"/>
            <a:ext cx="3357600" cy="86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Introdução</a:t>
            </a:r>
            <a:endParaRPr b="1" sz="3200">
              <a:solidFill>
                <a:schemeClr val="dk2"/>
              </a:solidFill>
              <a:latin typeface="Calibri"/>
              <a:ea typeface="Calibri"/>
              <a:cs typeface="Calibri"/>
              <a:sym typeface="Calibri"/>
            </a:endParaRPr>
          </a:p>
        </p:txBody>
      </p:sp>
      <p:sp>
        <p:nvSpPr>
          <p:cNvPr id="118" name="Google Shape;118;p16"/>
          <p:cNvSpPr/>
          <p:nvPr/>
        </p:nvSpPr>
        <p:spPr>
          <a:xfrm>
            <a:off x="335350" y="1050550"/>
            <a:ext cx="11325300" cy="48855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1800"/>
              </a:spcBef>
              <a:spcAft>
                <a:spcPts val="0"/>
              </a:spcAft>
              <a:buNone/>
            </a:pPr>
            <a:r>
              <a:rPr b="1" lang="pt-BR" sz="2100">
                <a:solidFill>
                  <a:schemeClr val="dk1"/>
                </a:solidFill>
                <a:latin typeface="Calibri"/>
                <a:ea typeface="Calibri"/>
                <a:cs typeface="Calibri"/>
                <a:sym typeface="Calibri"/>
              </a:rPr>
              <a:t>Uma fábrica moderna deve ter um cérebro e um sistema de circulação, e deve haver uma interligação dos subsistemas através do software de sistema de controle. Os requisitos de software incluem: </a:t>
            </a:r>
            <a:endParaRPr b="1"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Integrar os fluxos de informação do manuseio de materiais com as informações de controle do chão de fábrica;</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Alocar e programar os recursos de manuseio de materiais;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1000"/>
              </a:spcAft>
              <a:buClr>
                <a:schemeClr val="dk1"/>
              </a:buClr>
              <a:buSzPts val="2100"/>
              <a:buFont typeface="Calibri"/>
              <a:buChar char="❖"/>
            </a:pPr>
            <a:r>
              <a:rPr lang="pt-BR" sz="2100">
                <a:solidFill>
                  <a:schemeClr val="dk1"/>
                </a:solidFill>
                <a:latin typeface="Calibri"/>
                <a:ea typeface="Calibri"/>
                <a:cs typeface="Calibri"/>
                <a:sym typeface="Calibri"/>
              </a:rPr>
              <a:t>Proporcionar controle em tempo real das ações de movimentação, armazenagem e retirada de materiais.</a:t>
            </a:r>
            <a:endParaRPr b="1" sz="21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7"/>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124" name="Google Shape;124;p17"/>
          <p:cNvSpPr txBox="1"/>
          <p:nvPr/>
        </p:nvSpPr>
        <p:spPr>
          <a:xfrm>
            <a:off x="214323" y="188650"/>
            <a:ext cx="3357600" cy="86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Introdução</a:t>
            </a:r>
            <a:endParaRPr b="1" sz="3200">
              <a:solidFill>
                <a:schemeClr val="dk2"/>
              </a:solidFill>
              <a:latin typeface="Calibri"/>
              <a:ea typeface="Calibri"/>
              <a:cs typeface="Calibri"/>
              <a:sym typeface="Calibri"/>
            </a:endParaRPr>
          </a:p>
        </p:txBody>
      </p:sp>
      <p:sp>
        <p:nvSpPr>
          <p:cNvPr id="125" name="Google Shape;125;p17"/>
          <p:cNvSpPr/>
          <p:nvPr/>
        </p:nvSpPr>
        <p:spPr>
          <a:xfrm>
            <a:off x="335350" y="1050550"/>
            <a:ext cx="11325300" cy="48855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1800"/>
              </a:spcBef>
              <a:spcAft>
                <a:spcPts val="0"/>
              </a:spcAft>
              <a:buNone/>
            </a:pPr>
            <a:r>
              <a:rPr b="1" lang="pt-BR" sz="2100">
                <a:solidFill>
                  <a:schemeClr val="dk1"/>
                </a:solidFill>
                <a:latin typeface="Calibri"/>
                <a:ea typeface="Calibri"/>
                <a:cs typeface="Calibri"/>
                <a:sym typeface="Calibri"/>
              </a:rPr>
              <a:t>A implementação de uma coleta de dados automatizada e um sistema de comunicação são necessários em um sistema de produção de alto desempenho.  E algumas dessa informações críticas são:</a:t>
            </a:r>
            <a:endParaRPr b="1"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Identificação e quantificação dos itens que fluem através do sistema;</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Localização de cada item;</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1000"/>
              </a:spcAft>
              <a:buClr>
                <a:schemeClr val="dk1"/>
              </a:buClr>
              <a:buSzPts val="2100"/>
              <a:buFont typeface="Calibri"/>
              <a:buChar char="❖"/>
            </a:pPr>
            <a:r>
              <a:rPr lang="pt-BR" sz="2100">
                <a:solidFill>
                  <a:schemeClr val="dk1"/>
                </a:solidFill>
                <a:latin typeface="Calibri"/>
                <a:ea typeface="Calibri"/>
                <a:cs typeface="Calibri"/>
                <a:sym typeface="Calibri"/>
              </a:rPr>
              <a:t>Tempo atual em relação a algum plano mestre de produção.</a:t>
            </a:r>
            <a:endParaRPr b="1" sz="21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131" name="Google Shape;131;p18"/>
          <p:cNvSpPr txBox="1"/>
          <p:nvPr/>
        </p:nvSpPr>
        <p:spPr>
          <a:xfrm>
            <a:off x="214323" y="188650"/>
            <a:ext cx="3357600" cy="86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Introdução</a:t>
            </a:r>
            <a:endParaRPr b="1" sz="3200">
              <a:solidFill>
                <a:schemeClr val="dk2"/>
              </a:solidFill>
              <a:latin typeface="Calibri"/>
              <a:ea typeface="Calibri"/>
              <a:cs typeface="Calibri"/>
              <a:sym typeface="Calibri"/>
            </a:endParaRPr>
          </a:p>
        </p:txBody>
      </p:sp>
      <p:sp>
        <p:nvSpPr>
          <p:cNvPr id="132" name="Google Shape;132;p18"/>
          <p:cNvSpPr/>
          <p:nvPr/>
        </p:nvSpPr>
        <p:spPr>
          <a:xfrm>
            <a:off x="335350" y="1050550"/>
            <a:ext cx="11325300" cy="48855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1800"/>
              </a:spcBef>
              <a:spcAft>
                <a:spcPts val="0"/>
              </a:spcAft>
              <a:buNone/>
            </a:pPr>
            <a:r>
              <a:rPr b="1" lang="pt-BR" sz="2100">
                <a:solidFill>
                  <a:schemeClr val="dk1"/>
                </a:solidFill>
                <a:latin typeface="Calibri"/>
                <a:ea typeface="Calibri"/>
                <a:cs typeface="Calibri"/>
                <a:sym typeface="Calibri"/>
              </a:rPr>
              <a:t>O controle do sistema de manuseio de materiais deve ter a flexibilidade para determinar qual das várias sequências deve ser adotada e deve ter os recursos físicos necessários para executar a decisão. No projeto de um sistema integrado de manuseio de materiais, devem ser considerados os seguintes objetivos: </a:t>
            </a:r>
            <a:endParaRPr b="1"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Criar um ambiente que resulte na fabricação de produtos de alta qualidade;</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Proporcionar fluxos planejados e ordenados de materiais, equipamentos, pessoas e informações;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1000"/>
              </a:spcAft>
              <a:buClr>
                <a:schemeClr val="dk1"/>
              </a:buClr>
              <a:buSzPts val="2100"/>
              <a:buFont typeface="Calibri"/>
              <a:buChar char="❖"/>
            </a:pPr>
            <a:r>
              <a:rPr lang="pt-BR" sz="2100">
                <a:solidFill>
                  <a:schemeClr val="dk1"/>
                </a:solidFill>
                <a:latin typeface="Calibri"/>
                <a:ea typeface="Calibri"/>
                <a:cs typeface="Calibri"/>
                <a:sym typeface="Calibri"/>
              </a:rPr>
              <a:t>Projetar um arranjo físico e um sistema de manuseio de materiais que possam ser facilmente adaptados às mudanças na variedade de produtos e nos volumes de produção;</a:t>
            </a:r>
            <a:endParaRPr sz="21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9"/>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138" name="Google Shape;138;p19"/>
          <p:cNvSpPr txBox="1"/>
          <p:nvPr/>
        </p:nvSpPr>
        <p:spPr>
          <a:xfrm>
            <a:off x="214323" y="188650"/>
            <a:ext cx="3357600" cy="86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Introdução</a:t>
            </a:r>
            <a:endParaRPr b="1" sz="3200">
              <a:solidFill>
                <a:schemeClr val="dk2"/>
              </a:solidFill>
              <a:latin typeface="Calibri"/>
              <a:ea typeface="Calibri"/>
              <a:cs typeface="Calibri"/>
              <a:sym typeface="Calibri"/>
            </a:endParaRPr>
          </a:p>
        </p:txBody>
      </p:sp>
      <p:sp>
        <p:nvSpPr>
          <p:cNvPr id="139" name="Google Shape;139;p19"/>
          <p:cNvSpPr/>
          <p:nvPr/>
        </p:nvSpPr>
        <p:spPr>
          <a:xfrm>
            <a:off x="335350" y="1050550"/>
            <a:ext cx="11325300" cy="4885500"/>
          </a:xfrm>
          <a:prstGeom prst="rect">
            <a:avLst/>
          </a:prstGeom>
          <a:noFill/>
          <a:ln>
            <a:noFill/>
          </a:ln>
        </p:spPr>
        <p:txBody>
          <a:bodyPr anchorCtr="0" anchor="t" bIns="45700" lIns="91425" spcFirstLastPara="1" rIns="91425" wrap="square" tIns="45700">
            <a:noAutofit/>
          </a:bodyPr>
          <a:lstStyle/>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Reduzir o material em processo e proporcionar fluxo e armazenagem controlados dos materiais;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Reduzir o manuseio de materiais entre as estações de trabalho;</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Entregar as peças às estações de trabalho nas quantidades certas e fisicamente posicionadas para permitir a transferência e a alimentação automática para as máquinas;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Entregar o ferramental para as máquinas na posição correta para permitir o descarregamento e a troca das ferramentas de forma automática;</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1000"/>
              </a:spcAft>
              <a:buClr>
                <a:schemeClr val="dk1"/>
              </a:buClr>
              <a:buSzPts val="2100"/>
              <a:buFont typeface="Calibri"/>
              <a:buChar char="❖"/>
            </a:pPr>
            <a:r>
              <a:rPr lang="pt-BR" sz="2100">
                <a:solidFill>
                  <a:schemeClr val="dk1"/>
                </a:solidFill>
                <a:latin typeface="Calibri"/>
                <a:ea typeface="Calibri"/>
                <a:cs typeface="Calibri"/>
                <a:sym typeface="Calibri"/>
              </a:rPr>
              <a:t>Utilizar o espaço com mais eficiência, considerando o espaço tridimensional e os impedimentos à passagem do tráfego. </a:t>
            </a:r>
            <a:endParaRPr sz="21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0"/>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145" name="Google Shape;145;p20"/>
          <p:cNvSpPr txBox="1"/>
          <p:nvPr/>
        </p:nvSpPr>
        <p:spPr>
          <a:xfrm>
            <a:off x="214325" y="188650"/>
            <a:ext cx="7635600" cy="86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SISTEMAS DE AUTOMAÇÃO FIXA </a:t>
            </a:r>
            <a:endParaRPr b="1" sz="3200">
              <a:solidFill>
                <a:schemeClr val="dk2"/>
              </a:solidFill>
              <a:latin typeface="Calibri"/>
              <a:ea typeface="Calibri"/>
              <a:cs typeface="Calibri"/>
              <a:sym typeface="Calibri"/>
            </a:endParaRPr>
          </a:p>
        </p:txBody>
      </p:sp>
      <p:sp>
        <p:nvSpPr>
          <p:cNvPr id="146" name="Google Shape;146;p20"/>
          <p:cNvSpPr/>
          <p:nvPr/>
        </p:nvSpPr>
        <p:spPr>
          <a:xfrm>
            <a:off x="335350" y="1050550"/>
            <a:ext cx="11325300" cy="48855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1800"/>
              </a:spcBef>
              <a:spcAft>
                <a:spcPts val="0"/>
              </a:spcAft>
              <a:buNone/>
            </a:pPr>
            <a:r>
              <a:rPr b="1" lang="pt-BR" sz="2100" u="sng">
                <a:solidFill>
                  <a:schemeClr val="dk1"/>
                </a:solidFill>
                <a:latin typeface="Calibri"/>
                <a:ea typeface="Calibri"/>
                <a:cs typeface="Calibri"/>
                <a:sym typeface="Calibri"/>
              </a:rPr>
              <a:t>Linha de Transferência:</a:t>
            </a:r>
            <a:endParaRPr b="1" sz="2100" u="sng">
              <a:solidFill>
                <a:schemeClr val="dk1"/>
              </a:solidFill>
              <a:latin typeface="Calibri"/>
              <a:ea typeface="Calibri"/>
              <a:cs typeface="Calibri"/>
              <a:sym typeface="Calibri"/>
            </a:endParaRPr>
          </a:p>
          <a:p>
            <a:pPr indent="0" lvl="0" marL="0" marR="0" rtl="0" algn="just">
              <a:lnSpc>
                <a:spcPct val="115000"/>
              </a:lnSpc>
              <a:spcBef>
                <a:spcPts val="1800"/>
              </a:spcBef>
              <a:spcAft>
                <a:spcPts val="0"/>
              </a:spcAft>
              <a:buNone/>
            </a:pPr>
            <a:r>
              <a:rPr b="1" lang="pt-BR" sz="2100">
                <a:solidFill>
                  <a:schemeClr val="dk1"/>
                </a:solidFill>
                <a:latin typeface="Calibri"/>
                <a:ea typeface="Calibri"/>
                <a:cs typeface="Calibri"/>
                <a:sym typeface="Calibri"/>
              </a:rPr>
              <a:t>Os materiais fluem de uma estação de trabalho para a próxima de maneira sequencial e o ritmo de produção da linha é regido pela operação mais lenta. Exemplifica uma automação inflexível, são utilizadas com frequência na produção de alto volume e são altamente automatizadas. Tem como desvantagens: </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Custo muito elevado dos componentes;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Inflexibilidade na quantidade de produtos fabricados;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Inflexibilidade no arranjo físico;</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Grande desvio nas taxas de produção, no caso de falha de equipamento na linha.</a:t>
            </a:r>
            <a:endParaRPr sz="2100">
              <a:solidFill>
                <a:schemeClr val="dk1"/>
              </a:solidFill>
              <a:latin typeface="Calibri"/>
              <a:ea typeface="Calibri"/>
              <a:cs typeface="Calibri"/>
              <a:sym typeface="Calibri"/>
            </a:endParaRPr>
          </a:p>
          <a:p>
            <a:pPr indent="0" lvl="0" marL="914400" marR="0" rtl="0" algn="just">
              <a:lnSpc>
                <a:spcPct val="150000"/>
              </a:lnSpc>
              <a:spcBef>
                <a:spcPts val="1000"/>
              </a:spcBef>
              <a:spcAft>
                <a:spcPts val="100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152" name="Google Shape;152;p21"/>
          <p:cNvSpPr txBox="1"/>
          <p:nvPr/>
        </p:nvSpPr>
        <p:spPr>
          <a:xfrm>
            <a:off x="214325" y="188650"/>
            <a:ext cx="7635600" cy="86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SISTEMAS DE AUTOMAÇÃO FIXA </a:t>
            </a:r>
            <a:endParaRPr b="1" sz="3200">
              <a:solidFill>
                <a:schemeClr val="dk2"/>
              </a:solidFill>
              <a:latin typeface="Calibri"/>
              <a:ea typeface="Calibri"/>
              <a:cs typeface="Calibri"/>
              <a:sym typeface="Calibri"/>
            </a:endParaRPr>
          </a:p>
        </p:txBody>
      </p:sp>
      <p:sp>
        <p:nvSpPr>
          <p:cNvPr id="153" name="Google Shape;153;p21"/>
          <p:cNvSpPr/>
          <p:nvPr/>
        </p:nvSpPr>
        <p:spPr>
          <a:xfrm>
            <a:off x="335350" y="1050550"/>
            <a:ext cx="11325300" cy="48855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1800"/>
              </a:spcBef>
              <a:spcAft>
                <a:spcPts val="0"/>
              </a:spcAft>
              <a:buNone/>
            </a:pPr>
            <a:r>
              <a:rPr b="1" lang="pt-BR" sz="2100">
                <a:solidFill>
                  <a:schemeClr val="dk1"/>
                </a:solidFill>
                <a:latin typeface="Calibri"/>
                <a:ea typeface="Calibri"/>
                <a:cs typeface="Calibri"/>
                <a:sym typeface="Calibri"/>
              </a:rPr>
              <a:t>O projeto das linhas de transferência inclui a especificação dos estágios de processamento individuais e a ligação entre os estágios. O desempenho do sistema depende do arranjo físico da instalação, da programação de produção, da confiabilidade de cada estágio em termos de variabilidade de processamento e falhas de máquina e do carregamento da linha. Temos  algumas variações da estrutura de fluxo em linha reta, sendo:</a:t>
            </a:r>
            <a:endParaRPr sz="2100">
              <a:solidFill>
                <a:schemeClr val="dk1"/>
              </a:solidFill>
              <a:latin typeface="Calibri"/>
              <a:ea typeface="Calibri"/>
              <a:cs typeface="Calibri"/>
              <a:sym typeface="Calibri"/>
            </a:endParaRPr>
          </a:p>
        </p:txBody>
      </p:sp>
      <p:pic>
        <p:nvPicPr>
          <p:cNvPr id="154" name="Google Shape;154;p21"/>
          <p:cNvPicPr preferRelativeResize="0"/>
          <p:nvPr/>
        </p:nvPicPr>
        <p:blipFill rotWithShape="1">
          <a:blip r:embed="rId3">
            <a:alphaModFix/>
          </a:blip>
          <a:srcRect b="0" l="6147" r="0" t="0"/>
          <a:stretch/>
        </p:blipFill>
        <p:spPr>
          <a:xfrm>
            <a:off x="335350" y="4124938"/>
            <a:ext cx="4394525" cy="1317175"/>
          </a:xfrm>
          <a:prstGeom prst="rect">
            <a:avLst/>
          </a:prstGeom>
          <a:noFill/>
          <a:ln>
            <a:noFill/>
          </a:ln>
        </p:spPr>
      </p:pic>
      <p:pic>
        <p:nvPicPr>
          <p:cNvPr id="155" name="Google Shape;155;p21"/>
          <p:cNvPicPr preferRelativeResize="0"/>
          <p:nvPr/>
        </p:nvPicPr>
        <p:blipFill>
          <a:blip r:embed="rId4">
            <a:alphaModFix/>
          </a:blip>
          <a:stretch>
            <a:fillRect/>
          </a:stretch>
        </p:blipFill>
        <p:spPr>
          <a:xfrm>
            <a:off x="8560650" y="3311913"/>
            <a:ext cx="3390900" cy="2943225"/>
          </a:xfrm>
          <a:prstGeom prst="rect">
            <a:avLst/>
          </a:prstGeom>
          <a:noFill/>
          <a:ln>
            <a:noFill/>
          </a:ln>
        </p:spPr>
      </p:pic>
      <p:pic>
        <p:nvPicPr>
          <p:cNvPr id="156" name="Google Shape;156;p21"/>
          <p:cNvPicPr preferRelativeResize="0"/>
          <p:nvPr/>
        </p:nvPicPr>
        <p:blipFill>
          <a:blip r:embed="rId5">
            <a:alphaModFix/>
          </a:blip>
          <a:stretch>
            <a:fillRect/>
          </a:stretch>
        </p:blipFill>
        <p:spPr>
          <a:xfrm>
            <a:off x="5307000" y="3631000"/>
            <a:ext cx="2676525" cy="2305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2"/>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162" name="Google Shape;162;p22"/>
          <p:cNvSpPr txBox="1"/>
          <p:nvPr/>
        </p:nvSpPr>
        <p:spPr>
          <a:xfrm>
            <a:off x="214325" y="188650"/>
            <a:ext cx="7635600" cy="86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SISTEMAS DE AUTOMAÇÃO FIXA </a:t>
            </a:r>
            <a:endParaRPr b="1" sz="3200">
              <a:solidFill>
                <a:schemeClr val="dk2"/>
              </a:solidFill>
              <a:latin typeface="Calibri"/>
              <a:ea typeface="Calibri"/>
              <a:cs typeface="Calibri"/>
              <a:sym typeface="Calibri"/>
            </a:endParaRPr>
          </a:p>
        </p:txBody>
      </p:sp>
      <p:sp>
        <p:nvSpPr>
          <p:cNvPr id="163" name="Google Shape;163;p22"/>
          <p:cNvSpPr/>
          <p:nvPr/>
        </p:nvSpPr>
        <p:spPr>
          <a:xfrm>
            <a:off x="335350" y="1050550"/>
            <a:ext cx="11325300" cy="52026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1800"/>
              </a:spcBef>
              <a:spcAft>
                <a:spcPts val="0"/>
              </a:spcAft>
              <a:buNone/>
            </a:pPr>
            <a:r>
              <a:rPr b="1" lang="pt-BR" sz="2100" u="sng">
                <a:solidFill>
                  <a:schemeClr val="dk1"/>
                </a:solidFill>
                <a:latin typeface="Calibri"/>
                <a:ea typeface="Calibri"/>
                <a:cs typeface="Calibri"/>
                <a:sym typeface="Calibri"/>
              </a:rPr>
              <a:t>Mesa Indexadora Rotativa:</a:t>
            </a:r>
            <a:endParaRPr b="1" sz="2100" u="sng">
              <a:solidFill>
                <a:schemeClr val="dk1"/>
              </a:solidFill>
              <a:latin typeface="Calibri"/>
              <a:ea typeface="Calibri"/>
              <a:cs typeface="Calibri"/>
              <a:sym typeface="Calibri"/>
            </a:endParaRPr>
          </a:p>
          <a:p>
            <a:pPr indent="0" lvl="0" marL="0" marR="0" rtl="0" algn="just">
              <a:lnSpc>
                <a:spcPct val="115000"/>
              </a:lnSpc>
              <a:spcBef>
                <a:spcPts val="1800"/>
              </a:spcBef>
              <a:spcAft>
                <a:spcPts val="0"/>
              </a:spcAft>
              <a:buNone/>
            </a:pPr>
            <a:r>
              <a:rPr b="1" lang="pt-BR" sz="2100">
                <a:solidFill>
                  <a:schemeClr val="dk1"/>
                </a:solidFill>
                <a:latin typeface="Calibri"/>
                <a:ea typeface="Calibri"/>
                <a:cs typeface="Calibri"/>
                <a:sym typeface="Calibri"/>
              </a:rPr>
              <a:t>A mesa indexadora rotativa representa as estações de trabalho dispostas em um padrão circular. Embora não sejam chamados de linhas de transferência, uma série de sistemas de produção tem características similares às das linhas de transferência. Alguns exemplos incluem:  </a:t>
            </a:r>
            <a:endParaRPr b="1"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Sistemas de montagem automatizados para peças automotivas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Sistemas de produção de processos químicos;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Processos de envasamento e enlatamento de bebidas;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Processos de tratamento térmico e de tratamento de superfície;</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1000"/>
              </a:spcAft>
              <a:buClr>
                <a:schemeClr val="dk1"/>
              </a:buClr>
              <a:buSzPts val="2100"/>
              <a:buFont typeface="Calibri"/>
              <a:buChar char="❖"/>
            </a:pPr>
            <a:r>
              <a:rPr lang="pt-BR" sz="2100">
                <a:solidFill>
                  <a:schemeClr val="dk1"/>
                </a:solidFill>
                <a:latin typeface="Calibri"/>
                <a:ea typeface="Calibri"/>
                <a:cs typeface="Calibri"/>
                <a:sym typeface="Calibri"/>
              </a:rPr>
              <a:t>Processos de fabricação de aço.</a:t>
            </a:r>
            <a:endParaRPr sz="21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3"/>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169" name="Google Shape;169;p23"/>
          <p:cNvSpPr txBox="1"/>
          <p:nvPr/>
        </p:nvSpPr>
        <p:spPr>
          <a:xfrm>
            <a:off x="214325" y="188650"/>
            <a:ext cx="76356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SISTEMAS FLEXÍVEIS DE PRODUÇÃO </a:t>
            </a:r>
            <a:endParaRPr b="1" sz="3200">
              <a:solidFill>
                <a:schemeClr val="dk2"/>
              </a:solidFill>
              <a:latin typeface="Calibri"/>
              <a:ea typeface="Calibri"/>
              <a:cs typeface="Calibri"/>
              <a:sym typeface="Calibri"/>
            </a:endParaRPr>
          </a:p>
        </p:txBody>
      </p:sp>
      <p:sp>
        <p:nvSpPr>
          <p:cNvPr id="170" name="Google Shape;170;p23"/>
          <p:cNvSpPr/>
          <p:nvPr/>
        </p:nvSpPr>
        <p:spPr>
          <a:xfrm>
            <a:off x="335350" y="1050550"/>
            <a:ext cx="11325300" cy="52026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1800"/>
              </a:spcBef>
              <a:spcAft>
                <a:spcPts val="0"/>
              </a:spcAft>
              <a:buNone/>
            </a:pPr>
            <a:r>
              <a:rPr b="1" lang="pt-BR" sz="2100">
                <a:solidFill>
                  <a:schemeClr val="dk1"/>
                </a:solidFill>
                <a:latin typeface="Calibri"/>
                <a:ea typeface="Calibri"/>
                <a:cs typeface="Calibri"/>
                <a:sym typeface="Calibri"/>
              </a:rPr>
              <a:t>O termo sistema flexível de produção (Flexible Production System — FMS) surgiu para descrever o sistema, onde a palavra “flexível” está associada a tal sistema, já que ele é capaz de produzir uma grande quantidade de tipos diferentes de peças. Os componentes de um sistema flexível de produção são: </a:t>
            </a:r>
            <a:endParaRPr b="1"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Os equipamentos de processamento;</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Os equipamentos de manuseio de materiais;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1000"/>
              </a:spcAft>
              <a:buClr>
                <a:schemeClr val="dk1"/>
              </a:buClr>
              <a:buSzPts val="2100"/>
              <a:buFont typeface="Calibri"/>
              <a:buChar char="❖"/>
            </a:pPr>
            <a:r>
              <a:rPr lang="pt-BR" sz="2100">
                <a:solidFill>
                  <a:schemeClr val="dk1"/>
                </a:solidFill>
                <a:latin typeface="Calibri"/>
                <a:ea typeface="Calibri"/>
                <a:cs typeface="Calibri"/>
                <a:sym typeface="Calibri"/>
              </a:rPr>
              <a:t>Os equipamentos de controle informatizado.</a:t>
            </a:r>
            <a:endParaRPr sz="2100">
              <a:solidFill>
                <a:schemeClr val="dk1"/>
              </a:solidFill>
              <a:latin typeface="Calibri"/>
              <a:ea typeface="Calibri"/>
              <a:cs typeface="Calibri"/>
              <a:sym typeface="Calibri"/>
            </a:endParaRPr>
          </a:p>
        </p:txBody>
      </p:sp>
      <p:pic>
        <p:nvPicPr>
          <p:cNvPr id="171" name="Google Shape;171;p23"/>
          <p:cNvPicPr preferRelativeResize="0"/>
          <p:nvPr/>
        </p:nvPicPr>
        <p:blipFill>
          <a:blip r:embed="rId3">
            <a:alphaModFix/>
          </a:blip>
          <a:stretch>
            <a:fillRect/>
          </a:stretch>
        </p:blipFill>
        <p:spPr>
          <a:xfrm>
            <a:off x="6806603" y="2812900"/>
            <a:ext cx="4991101" cy="3274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177" name="Google Shape;177;p24"/>
          <p:cNvSpPr txBox="1"/>
          <p:nvPr/>
        </p:nvSpPr>
        <p:spPr>
          <a:xfrm>
            <a:off x="214325" y="188650"/>
            <a:ext cx="76356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SISTEMAS FLEXÍVEIS DE PRODUÇÃO </a:t>
            </a:r>
            <a:endParaRPr b="1" sz="3200">
              <a:solidFill>
                <a:schemeClr val="dk2"/>
              </a:solidFill>
              <a:latin typeface="Calibri"/>
              <a:ea typeface="Calibri"/>
              <a:cs typeface="Calibri"/>
              <a:sym typeface="Calibri"/>
            </a:endParaRPr>
          </a:p>
        </p:txBody>
      </p:sp>
      <p:sp>
        <p:nvSpPr>
          <p:cNvPr id="178" name="Google Shape;178;p24"/>
          <p:cNvSpPr/>
          <p:nvPr/>
        </p:nvSpPr>
        <p:spPr>
          <a:xfrm>
            <a:off x="335350" y="1050550"/>
            <a:ext cx="11325300" cy="52026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1800"/>
              </a:spcBef>
              <a:spcAft>
                <a:spcPts val="0"/>
              </a:spcAft>
              <a:buNone/>
            </a:pPr>
            <a:r>
              <a:rPr b="1" lang="pt-BR" sz="2100">
                <a:solidFill>
                  <a:schemeClr val="dk1"/>
                </a:solidFill>
                <a:latin typeface="Calibri"/>
                <a:ea typeface="Calibri"/>
                <a:cs typeface="Calibri"/>
                <a:sym typeface="Calibri"/>
              </a:rPr>
              <a:t>A utilização de um sistema flexível de produção pode ser conveniente em: </a:t>
            </a:r>
            <a:r>
              <a:rPr b="1" lang="pt-BR" sz="2100">
                <a:solidFill>
                  <a:schemeClr val="dk1"/>
                </a:solidFill>
                <a:latin typeface="Calibri"/>
                <a:ea typeface="Calibri"/>
                <a:cs typeface="Calibri"/>
                <a:sym typeface="Calibri"/>
              </a:rPr>
              <a:t> </a:t>
            </a:r>
            <a:endParaRPr b="1"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Produção de famílias de peças;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Lançamento aleatório das peças no sistema;</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Menor tempo de execução da produção;</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Maior utilização de máquina;</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Menos mão de obra direta e indireta;</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1000"/>
              </a:spcAft>
              <a:buClr>
                <a:schemeClr val="dk1"/>
              </a:buClr>
              <a:buSzPts val="2100"/>
              <a:buFont typeface="Calibri"/>
              <a:buChar char="❖"/>
            </a:pPr>
            <a:r>
              <a:rPr lang="pt-BR" sz="2100">
                <a:solidFill>
                  <a:schemeClr val="dk1"/>
                </a:solidFill>
                <a:latin typeface="Calibri"/>
                <a:ea typeface="Calibri"/>
                <a:cs typeface="Calibri"/>
                <a:sym typeface="Calibri"/>
              </a:rPr>
              <a:t>Melhor controle gerencial.</a:t>
            </a:r>
            <a:endParaRPr sz="21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184" name="Google Shape;184;p25"/>
          <p:cNvSpPr txBox="1"/>
          <p:nvPr/>
        </p:nvSpPr>
        <p:spPr>
          <a:xfrm>
            <a:off x="214325" y="188650"/>
            <a:ext cx="76356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SISTEMAS FLEXÍVEIS DE PRODUÇÃO </a:t>
            </a:r>
            <a:endParaRPr b="1" sz="3200">
              <a:solidFill>
                <a:schemeClr val="dk2"/>
              </a:solidFill>
              <a:latin typeface="Calibri"/>
              <a:ea typeface="Calibri"/>
              <a:cs typeface="Calibri"/>
              <a:sym typeface="Calibri"/>
            </a:endParaRPr>
          </a:p>
        </p:txBody>
      </p:sp>
      <p:sp>
        <p:nvSpPr>
          <p:cNvPr id="185" name="Google Shape;185;p25"/>
          <p:cNvSpPr/>
          <p:nvPr/>
        </p:nvSpPr>
        <p:spPr>
          <a:xfrm>
            <a:off x="335350" y="1050550"/>
            <a:ext cx="11325300" cy="52026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1800"/>
              </a:spcBef>
              <a:spcAft>
                <a:spcPts val="0"/>
              </a:spcAft>
              <a:buNone/>
            </a:pPr>
            <a:r>
              <a:rPr b="1" lang="pt-BR" sz="2100">
                <a:solidFill>
                  <a:schemeClr val="dk1"/>
                </a:solidFill>
                <a:latin typeface="Calibri"/>
                <a:ea typeface="Calibri"/>
                <a:cs typeface="Calibri"/>
                <a:sym typeface="Calibri"/>
              </a:rPr>
              <a:t>E para projetar o sistema de manuseio de materiais para um sistema flexível de produção, deve se considerar os seguintes requisitos de projeto:</a:t>
            </a:r>
            <a:endParaRPr b="1" sz="2100">
              <a:solidFill>
                <a:schemeClr val="dk1"/>
              </a:solidFill>
              <a:latin typeface="Calibri"/>
              <a:ea typeface="Calibri"/>
              <a:cs typeface="Calibri"/>
              <a:sym typeface="Calibri"/>
            </a:endParaRPr>
          </a:p>
          <a:p>
            <a:pPr indent="-361950" lvl="0" marL="914400" marR="0" rtl="0" algn="just">
              <a:lnSpc>
                <a:spcPct val="115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Movimento aleatório, independente, de peças paletizadas entre as estações de trabalho;</a:t>
            </a:r>
            <a:endParaRPr sz="2100">
              <a:solidFill>
                <a:schemeClr val="dk1"/>
              </a:solidFill>
              <a:latin typeface="Calibri"/>
              <a:ea typeface="Calibri"/>
              <a:cs typeface="Calibri"/>
              <a:sym typeface="Calibri"/>
            </a:endParaRPr>
          </a:p>
          <a:p>
            <a:pPr indent="-361950" lvl="0" marL="914400" marR="0" rtl="0" algn="just">
              <a:lnSpc>
                <a:spcPct val="115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Armazenamento temporário ou banco de peças;</a:t>
            </a:r>
            <a:endParaRPr sz="2100">
              <a:solidFill>
                <a:schemeClr val="dk1"/>
              </a:solidFill>
              <a:latin typeface="Calibri"/>
              <a:ea typeface="Calibri"/>
              <a:cs typeface="Calibri"/>
              <a:sym typeface="Calibri"/>
            </a:endParaRPr>
          </a:p>
          <a:p>
            <a:pPr indent="-361950" lvl="0" marL="914400" marR="0" rtl="0" algn="just">
              <a:lnSpc>
                <a:spcPct val="115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Acesso conveniente para carregamento e descarregamento;</a:t>
            </a:r>
            <a:endParaRPr sz="2100">
              <a:solidFill>
                <a:schemeClr val="dk1"/>
              </a:solidFill>
              <a:latin typeface="Calibri"/>
              <a:ea typeface="Calibri"/>
              <a:cs typeface="Calibri"/>
              <a:sym typeface="Calibri"/>
            </a:endParaRPr>
          </a:p>
          <a:p>
            <a:pPr indent="-361950" lvl="0" marL="914400" marR="0" rtl="0" algn="just">
              <a:lnSpc>
                <a:spcPct val="115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Compatibilidade com controle computadorizado;</a:t>
            </a:r>
            <a:endParaRPr sz="2100">
              <a:solidFill>
                <a:schemeClr val="dk1"/>
              </a:solidFill>
              <a:latin typeface="Calibri"/>
              <a:ea typeface="Calibri"/>
              <a:cs typeface="Calibri"/>
              <a:sym typeface="Calibri"/>
            </a:endParaRPr>
          </a:p>
          <a:p>
            <a:pPr indent="-361950" lvl="0" marL="914400" marR="0" rtl="0" algn="just">
              <a:lnSpc>
                <a:spcPct val="115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Previsão para futura expansão;</a:t>
            </a:r>
            <a:endParaRPr sz="2100">
              <a:solidFill>
                <a:schemeClr val="dk1"/>
              </a:solidFill>
              <a:latin typeface="Calibri"/>
              <a:ea typeface="Calibri"/>
              <a:cs typeface="Calibri"/>
              <a:sym typeface="Calibri"/>
            </a:endParaRPr>
          </a:p>
          <a:p>
            <a:pPr indent="-361950" lvl="0" marL="914400" marR="0" rtl="0" algn="just">
              <a:lnSpc>
                <a:spcPct val="115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Adesão a todos os códigos industriais aplicáveis;</a:t>
            </a:r>
            <a:endParaRPr sz="2100">
              <a:solidFill>
                <a:schemeClr val="dk1"/>
              </a:solidFill>
              <a:latin typeface="Calibri"/>
              <a:ea typeface="Calibri"/>
              <a:cs typeface="Calibri"/>
              <a:sym typeface="Calibri"/>
            </a:endParaRPr>
          </a:p>
          <a:p>
            <a:pPr indent="-361950" lvl="0" marL="914400" marR="0" rtl="0" algn="just">
              <a:lnSpc>
                <a:spcPct val="115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Acesso a máquinas-ferramentas;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1000"/>
              </a:spcAft>
              <a:buClr>
                <a:schemeClr val="dk1"/>
              </a:buClr>
              <a:buSzPts val="2100"/>
              <a:buFont typeface="Calibri"/>
              <a:buChar char="❖"/>
            </a:pPr>
            <a:r>
              <a:rPr lang="pt-BR" sz="2100">
                <a:solidFill>
                  <a:schemeClr val="dk1"/>
                </a:solidFill>
                <a:latin typeface="Calibri"/>
                <a:ea typeface="Calibri"/>
                <a:cs typeface="Calibri"/>
                <a:sym typeface="Calibri"/>
              </a:rPr>
              <a:t>Operação no ambiente do chão de fábrica.</a:t>
            </a:r>
            <a:endParaRPr sz="21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191" name="Google Shape;191;p26"/>
          <p:cNvSpPr txBox="1"/>
          <p:nvPr/>
        </p:nvSpPr>
        <p:spPr>
          <a:xfrm>
            <a:off x="214325" y="188650"/>
            <a:ext cx="76356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SISTEMAS FLEXÍVEIS DE PRODUÇÃO </a:t>
            </a:r>
            <a:endParaRPr b="1" sz="3200">
              <a:solidFill>
                <a:schemeClr val="dk2"/>
              </a:solidFill>
              <a:latin typeface="Calibri"/>
              <a:ea typeface="Calibri"/>
              <a:cs typeface="Calibri"/>
              <a:sym typeface="Calibri"/>
            </a:endParaRPr>
          </a:p>
        </p:txBody>
      </p:sp>
      <p:sp>
        <p:nvSpPr>
          <p:cNvPr id="192" name="Google Shape;192;p26"/>
          <p:cNvSpPr/>
          <p:nvPr/>
        </p:nvSpPr>
        <p:spPr>
          <a:xfrm>
            <a:off x="335350" y="1050550"/>
            <a:ext cx="11325300" cy="52026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1800"/>
              </a:spcBef>
              <a:spcAft>
                <a:spcPts val="0"/>
              </a:spcAft>
              <a:buNone/>
            </a:pPr>
            <a:r>
              <a:rPr b="1" lang="pt-BR" sz="2100">
                <a:solidFill>
                  <a:schemeClr val="dk1"/>
                </a:solidFill>
                <a:latin typeface="Calibri"/>
                <a:ea typeface="Calibri"/>
                <a:cs typeface="Calibri"/>
                <a:sym typeface="Calibri"/>
              </a:rPr>
              <a:t>Os sistemas flexíveis de produção são utilizados para lidar com a mudança. Especificamente, são suportadas as seguintes mudanças: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Tecnologia de processamento;</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Sequência de processamento;</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Volumes de produção;</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Tamanhos dos produtos;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Variedade de produtos.</a:t>
            </a:r>
            <a:endParaRPr sz="2100">
              <a:solidFill>
                <a:schemeClr val="dk1"/>
              </a:solidFill>
              <a:latin typeface="Calibri"/>
              <a:ea typeface="Calibri"/>
              <a:cs typeface="Calibri"/>
              <a:sym typeface="Calibri"/>
            </a:endParaRPr>
          </a:p>
          <a:p>
            <a:pPr indent="0" lvl="0" marL="914400" marR="0" rtl="0" algn="just">
              <a:lnSpc>
                <a:spcPct val="150000"/>
              </a:lnSpc>
              <a:spcBef>
                <a:spcPts val="1000"/>
              </a:spcBef>
              <a:spcAft>
                <a:spcPts val="100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7"/>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198" name="Google Shape;198;p27"/>
          <p:cNvSpPr txBox="1"/>
          <p:nvPr/>
        </p:nvSpPr>
        <p:spPr>
          <a:xfrm>
            <a:off x="214325" y="188650"/>
            <a:ext cx="76356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SISTEMAS FLEXÍVEIS DE PRODUÇÃO </a:t>
            </a:r>
            <a:endParaRPr b="1" sz="3200">
              <a:solidFill>
                <a:schemeClr val="dk2"/>
              </a:solidFill>
              <a:latin typeface="Calibri"/>
              <a:ea typeface="Calibri"/>
              <a:cs typeface="Calibri"/>
              <a:sym typeface="Calibri"/>
            </a:endParaRPr>
          </a:p>
        </p:txBody>
      </p:sp>
      <p:sp>
        <p:nvSpPr>
          <p:cNvPr id="199" name="Google Shape;199;p27"/>
          <p:cNvSpPr/>
          <p:nvPr/>
        </p:nvSpPr>
        <p:spPr>
          <a:xfrm>
            <a:off x="335350" y="1050550"/>
            <a:ext cx="11325300" cy="52026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1800"/>
              </a:spcBef>
              <a:spcAft>
                <a:spcPts val="0"/>
              </a:spcAft>
              <a:buNone/>
            </a:pPr>
            <a:r>
              <a:rPr b="1" lang="pt-BR" sz="2100">
                <a:solidFill>
                  <a:schemeClr val="dk1"/>
                </a:solidFill>
                <a:latin typeface="Calibri"/>
                <a:ea typeface="Calibri"/>
                <a:cs typeface="Calibri"/>
                <a:sym typeface="Calibri"/>
              </a:rPr>
              <a:t>E</a:t>
            </a:r>
            <a:r>
              <a:rPr b="1" lang="pt-BR" sz="2100">
                <a:solidFill>
                  <a:schemeClr val="dk1"/>
                </a:solidFill>
                <a:latin typeface="Calibri"/>
                <a:ea typeface="Calibri"/>
                <a:cs typeface="Calibri"/>
                <a:sym typeface="Calibri"/>
              </a:rPr>
              <a:t>nquanto os sistemas de produção com automação inflexível são frequentemente justificados com base na economia de escala, a automação flexível é a que tem um escopo muito amplo. </a:t>
            </a:r>
            <a:r>
              <a:rPr b="1" lang="pt-BR" sz="2100">
                <a:solidFill>
                  <a:schemeClr val="dk1"/>
                </a:solidFill>
                <a:latin typeface="Calibri"/>
                <a:ea typeface="Calibri"/>
                <a:cs typeface="Calibri"/>
                <a:sym typeface="Calibri"/>
              </a:rPr>
              <a:t>Os sistemas flexíveis de produção são projetados para as condições de lotes pequenos (baixo volume) e grande variedade. A flexibilidade pode ser alcançada através de:</a:t>
            </a:r>
            <a:endParaRPr b="1"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Manuseio e armazenamento padronizado dos componentes;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Unidades de produção independentes (fabricação, montagem, inspeção etc.);</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Sistema flexível de entrega de materiais;</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Armazenamento centralizado do material em processo;</a:t>
            </a:r>
            <a:endParaRPr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Alto grau de controle.</a:t>
            </a:r>
            <a:endParaRPr sz="2100">
              <a:solidFill>
                <a:schemeClr val="dk1"/>
              </a:solidFill>
              <a:latin typeface="Calibri"/>
              <a:ea typeface="Calibri"/>
              <a:cs typeface="Calibri"/>
              <a:sym typeface="Calibri"/>
            </a:endParaRPr>
          </a:p>
          <a:p>
            <a:pPr indent="0" lvl="0" marL="914400" marR="0" rtl="0" algn="just">
              <a:lnSpc>
                <a:spcPct val="150000"/>
              </a:lnSpc>
              <a:spcBef>
                <a:spcPts val="1000"/>
              </a:spcBef>
              <a:spcAft>
                <a:spcPts val="100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8"/>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205" name="Google Shape;205;p28"/>
          <p:cNvSpPr txBox="1"/>
          <p:nvPr/>
        </p:nvSpPr>
        <p:spPr>
          <a:xfrm>
            <a:off x="214325" y="188650"/>
            <a:ext cx="76356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SISTEMAS FLEXÍVEIS DE PRODUÇÃO </a:t>
            </a:r>
            <a:endParaRPr b="1" sz="3200">
              <a:solidFill>
                <a:schemeClr val="dk2"/>
              </a:solidFill>
              <a:latin typeface="Calibri"/>
              <a:ea typeface="Calibri"/>
              <a:cs typeface="Calibri"/>
              <a:sym typeface="Calibri"/>
            </a:endParaRPr>
          </a:p>
        </p:txBody>
      </p:sp>
      <p:sp>
        <p:nvSpPr>
          <p:cNvPr id="206" name="Google Shape;206;p28"/>
          <p:cNvSpPr/>
          <p:nvPr/>
        </p:nvSpPr>
        <p:spPr>
          <a:xfrm>
            <a:off x="335350" y="1202950"/>
            <a:ext cx="11325300" cy="52026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1800"/>
              </a:spcBef>
              <a:spcAft>
                <a:spcPts val="0"/>
              </a:spcAft>
              <a:buNone/>
            </a:pPr>
            <a:r>
              <a:rPr b="1" lang="pt-BR" sz="2100">
                <a:solidFill>
                  <a:schemeClr val="dk1"/>
                </a:solidFill>
                <a:latin typeface="Calibri"/>
                <a:ea typeface="Calibri"/>
                <a:cs typeface="Calibri"/>
                <a:sym typeface="Calibri"/>
              </a:rPr>
              <a:t>Para um sistema de produção ser classificado como flexível, ele deve ter capacidade para fazer o seguinte: </a:t>
            </a:r>
            <a:endParaRPr b="1" sz="2100">
              <a:solidFill>
                <a:schemeClr val="dk1"/>
              </a:solidFill>
              <a:latin typeface="Calibri"/>
              <a:ea typeface="Calibri"/>
              <a:cs typeface="Calibri"/>
              <a:sym typeface="Calibri"/>
            </a:endParaRPr>
          </a:p>
          <a:p>
            <a:pPr indent="-361950" lvl="0" marL="914400" marR="0" rtl="0" algn="just">
              <a:lnSpc>
                <a:spcPct val="10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Processar diferentes estilos de peças/componentes em um modo não lote;</a:t>
            </a:r>
            <a:endParaRPr sz="2100">
              <a:solidFill>
                <a:schemeClr val="dk1"/>
              </a:solidFill>
              <a:latin typeface="Calibri"/>
              <a:ea typeface="Calibri"/>
              <a:cs typeface="Calibri"/>
              <a:sym typeface="Calibri"/>
            </a:endParaRPr>
          </a:p>
          <a:p>
            <a:pPr indent="-361950" lvl="0" marL="914400" marR="0" rtl="0" algn="just">
              <a:lnSpc>
                <a:spcPct val="10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Aceitar alterações no cronograma de produção;</a:t>
            </a:r>
            <a:endParaRPr sz="2100">
              <a:solidFill>
                <a:schemeClr val="dk1"/>
              </a:solidFill>
              <a:latin typeface="Calibri"/>
              <a:ea typeface="Calibri"/>
              <a:cs typeface="Calibri"/>
              <a:sym typeface="Calibri"/>
            </a:endParaRPr>
          </a:p>
          <a:p>
            <a:pPr indent="-361950" lvl="0" marL="914400" marR="0" rtl="0" algn="just">
              <a:lnSpc>
                <a:spcPct val="10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Responder de forma elegante ao mau funcionamento e quebra dos equipamentos no sistema;</a:t>
            </a:r>
            <a:endParaRPr sz="2100">
              <a:solidFill>
                <a:schemeClr val="dk1"/>
              </a:solidFill>
              <a:latin typeface="Calibri"/>
              <a:ea typeface="Calibri"/>
              <a:cs typeface="Calibri"/>
              <a:sym typeface="Calibri"/>
            </a:endParaRPr>
          </a:p>
          <a:p>
            <a:pPr indent="-361950" lvl="0" marL="914400" marR="0" rtl="0" algn="just">
              <a:lnSpc>
                <a:spcPct val="100000"/>
              </a:lnSpc>
              <a:spcBef>
                <a:spcPts val="1000"/>
              </a:spcBef>
              <a:spcAft>
                <a:spcPts val="0"/>
              </a:spcAft>
              <a:buClr>
                <a:schemeClr val="dk1"/>
              </a:buClr>
              <a:buSzPts val="2100"/>
              <a:buFont typeface="Calibri"/>
              <a:buChar char="❖"/>
            </a:pPr>
            <a:r>
              <a:rPr lang="pt-BR" sz="2100">
                <a:solidFill>
                  <a:schemeClr val="dk1"/>
                </a:solidFill>
                <a:latin typeface="Calibri"/>
                <a:ea typeface="Calibri"/>
                <a:cs typeface="Calibri"/>
                <a:sym typeface="Calibri"/>
              </a:rPr>
              <a:t>Suportar a introdução do projeto de novas peças/componentes. </a:t>
            </a:r>
            <a:endParaRPr sz="21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t/>
            </a:r>
            <a:endParaRPr sz="21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rPr b="1" lang="pt-BR" sz="2100">
                <a:solidFill>
                  <a:schemeClr val="dk1"/>
                </a:solidFill>
                <a:latin typeface="Calibri"/>
                <a:ea typeface="Calibri"/>
                <a:cs typeface="Calibri"/>
                <a:sym typeface="Calibri"/>
              </a:rPr>
              <a:t>A partir dessas condições, podemos dizer que um sistema automatizado nem sempre é flexível </a:t>
            </a:r>
            <a:r>
              <a:rPr b="1" lang="pt-BR" sz="2100">
                <a:solidFill>
                  <a:schemeClr val="dk1"/>
                </a:solidFill>
                <a:latin typeface="Calibri"/>
                <a:ea typeface="Calibri"/>
                <a:cs typeface="Calibri"/>
                <a:sym typeface="Calibri"/>
              </a:rPr>
              <a:t>(Li</a:t>
            </a:r>
            <a:r>
              <a:rPr b="1" lang="pt-BR" sz="2100">
                <a:solidFill>
                  <a:schemeClr val="dk1"/>
                </a:solidFill>
                <a:latin typeface="Calibri"/>
                <a:ea typeface="Calibri"/>
                <a:cs typeface="Calibri"/>
                <a:sym typeface="Calibri"/>
              </a:rPr>
              <a:t>nhas de transferência) e, por outro lado, que um sistema flexível não precisa ser automatizado (linhas de montagem manual). </a:t>
            </a:r>
            <a:endParaRPr b="1" sz="2100">
              <a:solidFill>
                <a:schemeClr val="dk1"/>
              </a:solidFill>
              <a:latin typeface="Calibri"/>
              <a:ea typeface="Calibri"/>
              <a:cs typeface="Calibri"/>
              <a:sym typeface="Calibri"/>
            </a:endParaRPr>
          </a:p>
          <a:p>
            <a:pPr indent="0" lvl="0" marL="0" marR="0" rtl="0" algn="just">
              <a:lnSpc>
                <a:spcPct val="150000"/>
              </a:lnSpc>
              <a:spcBef>
                <a:spcPts val="1000"/>
              </a:spcBef>
              <a:spcAft>
                <a:spcPts val="100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9"/>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212" name="Google Shape;212;p29"/>
          <p:cNvSpPr txBox="1"/>
          <p:nvPr/>
        </p:nvSpPr>
        <p:spPr>
          <a:xfrm>
            <a:off x="214325" y="188650"/>
            <a:ext cx="76356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EXEMPLOS</a:t>
            </a:r>
            <a:endParaRPr b="1" sz="3200">
              <a:solidFill>
                <a:schemeClr val="dk2"/>
              </a:solidFill>
              <a:latin typeface="Calibri"/>
              <a:ea typeface="Calibri"/>
              <a:cs typeface="Calibri"/>
              <a:sym typeface="Calibri"/>
            </a:endParaRPr>
          </a:p>
        </p:txBody>
      </p:sp>
      <p:pic>
        <p:nvPicPr>
          <p:cNvPr id="213" name="Google Shape;213;p29"/>
          <p:cNvPicPr preferRelativeResize="0"/>
          <p:nvPr/>
        </p:nvPicPr>
        <p:blipFill>
          <a:blip r:embed="rId3">
            <a:alphaModFix/>
          </a:blip>
          <a:stretch>
            <a:fillRect/>
          </a:stretch>
        </p:blipFill>
        <p:spPr>
          <a:xfrm>
            <a:off x="293650" y="1139588"/>
            <a:ext cx="6147277" cy="2457225"/>
          </a:xfrm>
          <a:prstGeom prst="rect">
            <a:avLst/>
          </a:prstGeom>
          <a:noFill/>
          <a:ln>
            <a:noFill/>
          </a:ln>
        </p:spPr>
      </p:pic>
      <p:pic>
        <p:nvPicPr>
          <p:cNvPr id="214" name="Google Shape;214;p29"/>
          <p:cNvPicPr preferRelativeResize="0"/>
          <p:nvPr/>
        </p:nvPicPr>
        <p:blipFill>
          <a:blip r:embed="rId4">
            <a:alphaModFix/>
          </a:blip>
          <a:stretch>
            <a:fillRect/>
          </a:stretch>
        </p:blipFill>
        <p:spPr>
          <a:xfrm>
            <a:off x="7220225" y="1065487"/>
            <a:ext cx="4780335" cy="2605425"/>
          </a:xfrm>
          <a:prstGeom prst="rect">
            <a:avLst/>
          </a:prstGeom>
          <a:noFill/>
          <a:ln>
            <a:noFill/>
          </a:ln>
        </p:spPr>
      </p:pic>
      <p:pic>
        <p:nvPicPr>
          <p:cNvPr id="215" name="Google Shape;215;p29"/>
          <p:cNvPicPr preferRelativeResize="0"/>
          <p:nvPr/>
        </p:nvPicPr>
        <p:blipFill>
          <a:blip r:embed="rId5">
            <a:alphaModFix/>
          </a:blip>
          <a:stretch>
            <a:fillRect/>
          </a:stretch>
        </p:blipFill>
        <p:spPr>
          <a:xfrm>
            <a:off x="3764940" y="3899150"/>
            <a:ext cx="5412072" cy="2457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0"/>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221" name="Google Shape;221;p30"/>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SISTEMA DE VÁRIAS MÁQUINAS DE ESTÁGIO ÚNICO </a:t>
            </a:r>
            <a:endParaRPr b="1" sz="3200">
              <a:solidFill>
                <a:schemeClr val="dk2"/>
              </a:solidFill>
              <a:latin typeface="Calibri"/>
              <a:ea typeface="Calibri"/>
              <a:cs typeface="Calibri"/>
              <a:sym typeface="Calibri"/>
            </a:endParaRPr>
          </a:p>
        </p:txBody>
      </p:sp>
      <p:sp>
        <p:nvSpPr>
          <p:cNvPr id="222" name="Google Shape;222;p30"/>
          <p:cNvSpPr/>
          <p:nvPr/>
        </p:nvSpPr>
        <p:spPr>
          <a:xfrm>
            <a:off x="335350" y="1126750"/>
            <a:ext cx="11325300" cy="52026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1800"/>
              </a:spcBef>
              <a:spcAft>
                <a:spcPts val="0"/>
              </a:spcAft>
              <a:buNone/>
            </a:pPr>
            <a:r>
              <a:rPr b="1" lang="pt-BR" sz="2100">
                <a:solidFill>
                  <a:schemeClr val="dk1"/>
                </a:solidFill>
                <a:latin typeface="Calibri"/>
                <a:ea typeface="Calibri"/>
                <a:cs typeface="Calibri"/>
                <a:sym typeface="Calibri"/>
              </a:rPr>
              <a:t>Uma alternativa para a automação dos sistemas de fabricação é o que é chamado de sistemas de várias máquinas de estágio único (</a:t>
            </a:r>
            <a:r>
              <a:rPr b="1" i="1" lang="pt-BR" sz="2100">
                <a:solidFill>
                  <a:schemeClr val="dk1"/>
                </a:solidFill>
                <a:latin typeface="Calibri"/>
                <a:ea typeface="Calibri"/>
                <a:cs typeface="Calibri"/>
                <a:sym typeface="Calibri"/>
              </a:rPr>
              <a:t>Single-Stage Multimachine System</a:t>
            </a:r>
            <a:r>
              <a:rPr b="1" lang="pt-BR" sz="2100">
                <a:solidFill>
                  <a:schemeClr val="dk1"/>
                </a:solidFill>
                <a:latin typeface="Calibri"/>
                <a:ea typeface="Calibri"/>
                <a:cs typeface="Calibri"/>
                <a:sym typeface="Calibri"/>
              </a:rPr>
              <a:t> — SSMS), alguns do recursos envolvidos, são:</a:t>
            </a:r>
            <a:endParaRPr b="1" sz="2100">
              <a:solidFill>
                <a:schemeClr val="dk1"/>
              </a:solidFill>
              <a:latin typeface="Calibri"/>
              <a:ea typeface="Calibri"/>
              <a:cs typeface="Calibri"/>
              <a:sym typeface="Calibri"/>
            </a:endParaRPr>
          </a:p>
          <a:p>
            <a:pPr indent="-361950" lvl="0" marL="914400" marR="0" rtl="0" algn="just">
              <a:lnSpc>
                <a:spcPct val="150000"/>
              </a:lnSpc>
              <a:spcBef>
                <a:spcPts val="1000"/>
              </a:spcBef>
              <a:spcAft>
                <a:spcPts val="0"/>
              </a:spcAft>
              <a:buClr>
                <a:schemeClr val="dk1"/>
              </a:buClr>
              <a:buSzPts val="2100"/>
              <a:buFont typeface="Calibri"/>
              <a:buChar char="❖"/>
            </a:pPr>
            <a:r>
              <a:rPr b="1" lang="pt-BR" sz="2100" u="sng">
                <a:solidFill>
                  <a:schemeClr val="dk1"/>
                </a:solidFill>
                <a:latin typeface="Calibri"/>
                <a:ea typeface="Calibri"/>
                <a:cs typeface="Calibri"/>
                <a:sym typeface="Calibri"/>
              </a:rPr>
              <a:t>Configuração da produção e máquinas: </a:t>
            </a:r>
            <a:endParaRPr b="1" sz="2100" u="sng">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rPr lang="pt-BR" sz="2100">
                <a:solidFill>
                  <a:schemeClr val="dk1"/>
                </a:solidFill>
                <a:latin typeface="Calibri"/>
                <a:ea typeface="Calibri"/>
                <a:cs typeface="Calibri"/>
                <a:sym typeface="Calibri"/>
              </a:rPr>
              <a:t>Os centros de usinagem do SSMS são máquinas muito versáteis. São todas idênticas e versáteis para que todas as operações em qualquer peça possam ser realizadas em qualquer uma das máquinas. Nesse caso, haverá apenas uma configuração por peça. O sistema de manuseio de ferramentas fornece as ferramentas que não ficam presas à máquina e uma vez que uma peça é carregada em uma máquina, ela só sai dessa máquina depois que todas as operações necessárias foram realizadas. </a:t>
            </a:r>
            <a:endParaRPr sz="21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1"/>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228" name="Google Shape;228;p31"/>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SISTEMA DE VÁRIAS MÁQUINAS DE ESTÁGIO ÚNICO </a:t>
            </a:r>
            <a:endParaRPr b="1" sz="3200">
              <a:solidFill>
                <a:schemeClr val="dk2"/>
              </a:solidFill>
              <a:latin typeface="Calibri"/>
              <a:ea typeface="Calibri"/>
              <a:cs typeface="Calibri"/>
              <a:sym typeface="Calibri"/>
            </a:endParaRPr>
          </a:p>
        </p:txBody>
      </p:sp>
      <p:sp>
        <p:nvSpPr>
          <p:cNvPr id="229" name="Google Shape;229;p31"/>
          <p:cNvSpPr/>
          <p:nvPr/>
        </p:nvSpPr>
        <p:spPr>
          <a:xfrm>
            <a:off x="335350" y="1050550"/>
            <a:ext cx="11325300" cy="5202600"/>
          </a:xfrm>
          <a:prstGeom prst="rect">
            <a:avLst/>
          </a:prstGeom>
          <a:noFill/>
          <a:ln>
            <a:noFill/>
          </a:ln>
        </p:spPr>
        <p:txBody>
          <a:bodyPr anchorCtr="0" anchor="t" bIns="45700" lIns="91425" spcFirstLastPara="1" rIns="91425" wrap="square" tIns="45700">
            <a:noAutofit/>
          </a:bodyPr>
          <a:lstStyle/>
          <a:p>
            <a:pPr indent="-361950" lvl="0" marL="914400" marR="0" rtl="0" algn="just">
              <a:lnSpc>
                <a:spcPct val="150000"/>
              </a:lnSpc>
              <a:spcBef>
                <a:spcPts val="1000"/>
              </a:spcBef>
              <a:spcAft>
                <a:spcPts val="0"/>
              </a:spcAft>
              <a:buClr>
                <a:schemeClr val="dk1"/>
              </a:buClr>
              <a:buSzPts val="2100"/>
              <a:buFont typeface="Calibri"/>
              <a:buChar char="❖"/>
            </a:pPr>
            <a:r>
              <a:rPr b="1" lang="pt-BR" sz="2100" u="sng">
                <a:solidFill>
                  <a:schemeClr val="dk1"/>
                </a:solidFill>
                <a:latin typeface="Calibri"/>
                <a:ea typeface="Calibri"/>
                <a:cs typeface="Calibri"/>
                <a:sym typeface="Calibri"/>
              </a:rPr>
              <a:t>Peças: </a:t>
            </a:r>
            <a:endParaRPr b="1" sz="2100" u="sng">
              <a:solidFill>
                <a:schemeClr val="dk1"/>
              </a:solidFill>
              <a:latin typeface="Calibri"/>
              <a:ea typeface="Calibri"/>
              <a:cs typeface="Calibri"/>
              <a:sym typeface="Calibri"/>
            </a:endParaRPr>
          </a:p>
          <a:p>
            <a:pPr indent="0" lvl="0" marL="914400" marR="0" rtl="0" algn="just">
              <a:lnSpc>
                <a:spcPct val="100000"/>
              </a:lnSpc>
              <a:spcBef>
                <a:spcPts val="0"/>
              </a:spcBef>
              <a:spcAft>
                <a:spcPts val="0"/>
              </a:spcAft>
              <a:buNone/>
            </a:pPr>
            <a:r>
              <a:rPr lang="pt-BR" sz="2100">
                <a:solidFill>
                  <a:schemeClr val="dk1"/>
                </a:solidFill>
                <a:latin typeface="Calibri"/>
                <a:ea typeface="Calibri"/>
                <a:cs typeface="Calibri"/>
                <a:sym typeface="Calibri"/>
              </a:rPr>
              <a:t>As peças chegam de acordo com a programação das necessidades de produção. Elas visitam apenas uma máquina, pois todas as operações podem ser realizadas em uma única máquina. Um sistema de transporte cuida da entrega das peças da estação de entrada para a máquina e da máquina para a estação de saída. Uma peça só pode ser processada se as ferramentas necessárias estiverem disponíveis.</a:t>
            </a:r>
            <a:endParaRPr sz="2100">
              <a:solidFill>
                <a:schemeClr val="dk1"/>
              </a:solidFill>
              <a:latin typeface="Calibri"/>
              <a:ea typeface="Calibri"/>
              <a:cs typeface="Calibri"/>
              <a:sym typeface="Calibri"/>
            </a:endParaRPr>
          </a:p>
          <a:p>
            <a:pPr indent="-361950" lvl="0" marL="914400" marR="0" rtl="0" algn="just">
              <a:lnSpc>
                <a:spcPct val="100000"/>
              </a:lnSpc>
              <a:spcBef>
                <a:spcPts val="1000"/>
              </a:spcBef>
              <a:spcAft>
                <a:spcPts val="0"/>
              </a:spcAft>
              <a:buClr>
                <a:schemeClr val="dk1"/>
              </a:buClr>
              <a:buSzPts val="2100"/>
              <a:buFont typeface="Calibri"/>
              <a:buChar char="❖"/>
            </a:pPr>
            <a:r>
              <a:rPr b="1" lang="pt-BR" sz="2100" u="sng">
                <a:solidFill>
                  <a:schemeClr val="dk1"/>
                </a:solidFill>
                <a:latin typeface="Calibri"/>
                <a:ea typeface="Calibri"/>
                <a:cs typeface="Calibri"/>
                <a:sym typeface="Calibri"/>
              </a:rPr>
              <a:t>Ferramentas:</a:t>
            </a:r>
            <a:endParaRPr b="1" sz="21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rPr lang="pt-BR" sz="2100">
                <a:solidFill>
                  <a:schemeClr val="dk1"/>
                </a:solidFill>
                <a:latin typeface="Calibri"/>
                <a:ea typeface="Calibri"/>
                <a:cs typeface="Calibri"/>
                <a:sym typeface="Calibri"/>
              </a:rPr>
              <a:t>As ferramentas necessárias são especificadas pela folha de processo, sendo algumas presas à máquina e outras armazenadas em um sistema de armazenamento centralizado. Geralmente essas ferramentas são caras, e armazenar um conjunto completo em cada máquina seria caro demais, então compartilhamento dinâmico das ferramentas pode ser uma opção econômica. </a:t>
            </a:r>
            <a:endParaRPr sz="21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2"/>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235" name="Google Shape;235;p32"/>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SISTEMA DE VÁRIAS MÁQUINAS DE ESTÁGIO ÚNICO </a:t>
            </a:r>
            <a:endParaRPr b="1" sz="3200">
              <a:solidFill>
                <a:schemeClr val="dk2"/>
              </a:solidFill>
              <a:latin typeface="Calibri"/>
              <a:ea typeface="Calibri"/>
              <a:cs typeface="Calibri"/>
              <a:sym typeface="Calibri"/>
            </a:endParaRPr>
          </a:p>
        </p:txBody>
      </p:sp>
      <p:sp>
        <p:nvSpPr>
          <p:cNvPr id="236" name="Google Shape;236;p32"/>
          <p:cNvSpPr/>
          <p:nvPr/>
        </p:nvSpPr>
        <p:spPr>
          <a:xfrm>
            <a:off x="335350" y="1050550"/>
            <a:ext cx="11325300" cy="5202600"/>
          </a:xfrm>
          <a:prstGeom prst="rect">
            <a:avLst/>
          </a:prstGeom>
          <a:noFill/>
          <a:ln>
            <a:noFill/>
          </a:ln>
        </p:spPr>
        <p:txBody>
          <a:bodyPr anchorCtr="0" anchor="t" bIns="45700" lIns="91425" spcFirstLastPara="1" rIns="91425" wrap="square" tIns="45700">
            <a:noAutofit/>
          </a:bodyPr>
          <a:lstStyle/>
          <a:p>
            <a:pPr indent="-361950" lvl="0" marL="914400" marR="0" rtl="0" algn="just">
              <a:lnSpc>
                <a:spcPct val="150000"/>
              </a:lnSpc>
              <a:spcBef>
                <a:spcPts val="1000"/>
              </a:spcBef>
              <a:spcAft>
                <a:spcPts val="0"/>
              </a:spcAft>
              <a:buClr>
                <a:schemeClr val="dk1"/>
              </a:buClr>
              <a:buSzPts val="2100"/>
              <a:buFont typeface="Calibri"/>
              <a:buChar char="❖"/>
            </a:pPr>
            <a:r>
              <a:rPr b="1" lang="pt-BR" sz="2100" u="sng">
                <a:solidFill>
                  <a:schemeClr val="dk1"/>
                </a:solidFill>
                <a:latin typeface="Calibri"/>
                <a:ea typeface="Calibri"/>
                <a:cs typeface="Calibri"/>
                <a:sym typeface="Calibri"/>
              </a:rPr>
              <a:t>Transportador de peças</a:t>
            </a:r>
            <a:r>
              <a:rPr b="1" lang="pt-BR" sz="2100" u="sng">
                <a:solidFill>
                  <a:schemeClr val="dk1"/>
                </a:solidFill>
                <a:latin typeface="Calibri"/>
                <a:ea typeface="Calibri"/>
                <a:cs typeface="Calibri"/>
                <a:sym typeface="Calibri"/>
              </a:rPr>
              <a:t>: </a:t>
            </a:r>
            <a:endParaRPr b="1" sz="2100" u="sng">
              <a:solidFill>
                <a:schemeClr val="dk1"/>
              </a:solidFill>
              <a:latin typeface="Calibri"/>
              <a:ea typeface="Calibri"/>
              <a:cs typeface="Calibri"/>
              <a:sym typeface="Calibri"/>
            </a:endParaRPr>
          </a:p>
          <a:p>
            <a:pPr indent="0" lvl="0" marL="914400" marR="0" rtl="0" algn="just">
              <a:lnSpc>
                <a:spcPct val="100000"/>
              </a:lnSpc>
              <a:spcBef>
                <a:spcPts val="0"/>
              </a:spcBef>
              <a:spcAft>
                <a:spcPts val="0"/>
              </a:spcAft>
              <a:buNone/>
            </a:pPr>
            <a:r>
              <a:rPr lang="pt-BR" sz="2100">
                <a:solidFill>
                  <a:schemeClr val="dk1"/>
                </a:solidFill>
                <a:latin typeface="Calibri"/>
                <a:ea typeface="Calibri"/>
                <a:cs typeface="Calibri"/>
                <a:sym typeface="Calibri"/>
              </a:rPr>
              <a:t>A atividade de transporte das peças é mínima, já que uma peça visita uma máquina apenas uma vez. Deve haver um algoritmo de despacho eficiente para os veículos serem despachados com base na chegada das peças e da conclusão das tarefas quando os veículos estão ou passam a ficar ociosos, com uma ou mais peças aguardando para serem transportadas. </a:t>
            </a:r>
            <a:endParaRPr sz="2100">
              <a:solidFill>
                <a:schemeClr val="dk1"/>
              </a:solidFill>
              <a:latin typeface="Calibri"/>
              <a:ea typeface="Calibri"/>
              <a:cs typeface="Calibri"/>
              <a:sym typeface="Calibri"/>
            </a:endParaRPr>
          </a:p>
          <a:p>
            <a:pPr indent="-361950" lvl="0" marL="914400" marR="0" rtl="0" algn="just">
              <a:lnSpc>
                <a:spcPct val="100000"/>
              </a:lnSpc>
              <a:spcBef>
                <a:spcPts val="1000"/>
              </a:spcBef>
              <a:spcAft>
                <a:spcPts val="0"/>
              </a:spcAft>
              <a:buClr>
                <a:schemeClr val="dk1"/>
              </a:buClr>
              <a:buSzPts val="2100"/>
              <a:buFont typeface="Calibri"/>
              <a:buChar char="❖"/>
            </a:pPr>
            <a:r>
              <a:rPr b="1" lang="pt-BR" sz="2100" u="sng">
                <a:solidFill>
                  <a:schemeClr val="dk1"/>
                </a:solidFill>
                <a:latin typeface="Calibri"/>
                <a:ea typeface="Calibri"/>
                <a:cs typeface="Calibri"/>
                <a:sym typeface="Calibri"/>
              </a:rPr>
              <a:t>Porta-</a:t>
            </a:r>
            <a:r>
              <a:rPr b="1" lang="pt-BR" sz="2100" u="sng">
                <a:solidFill>
                  <a:schemeClr val="dk1"/>
                </a:solidFill>
                <a:latin typeface="Calibri"/>
                <a:ea typeface="Calibri"/>
                <a:cs typeface="Calibri"/>
                <a:sym typeface="Calibri"/>
              </a:rPr>
              <a:t>Ferramentas:</a:t>
            </a:r>
            <a:endParaRPr b="1" sz="21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100">
                <a:solidFill>
                  <a:schemeClr val="dk1"/>
                </a:solidFill>
                <a:latin typeface="Calibri"/>
                <a:ea typeface="Calibri"/>
                <a:cs typeface="Calibri"/>
                <a:sym typeface="Calibri"/>
              </a:rPr>
              <a:t>Um porta-ferramentas lida com o transporte das ferramentas de/para um depósito de ferramentas centralizado e para as máquinas que estão precisando da ferramenta. Sobre o compartilhamento dinâmico das ferramentas, elas são dinamicamente enviadas para as máquinas que delas necessitam. </a:t>
            </a:r>
            <a:endParaRPr sz="21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3"/>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242" name="Google Shape;242;p33"/>
          <p:cNvSpPr txBox="1"/>
          <p:nvPr/>
        </p:nvSpPr>
        <p:spPr>
          <a:xfrm>
            <a:off x="214325" y="188650"/>
            <a:ext cx="76356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EXEMPLOS</a:t>
            </a:r>
            <a:endParaRPr b="1" sz="3200">
              <a:solidFill>
                <a:schemeClr val="dk2"/>
              </a:solidFill>
              <a:latin typeface="Calibri"/>
              <a:ea typeface="Calibri"/>
              <a:cs typeface="Calibri"/>
              <a:sym typeface="Calibri"/>
            </a:endParaRPr>
          </a:p>
        </p:txBody>
      </p:sp>
      <p:pic>
        <p:nvPicPr>
          <p:cNvPr id="243" name="Google Shape;243;p33"/>
          <p:cNvPicPr preferRelativeResize="0"/>
          <p:nvPr/>
        </p:nvPicPr>
        <p:blipFill>
          <a:blip r:embed="rId3">
            <a:alphaModFix/>
          </a:blip>
          <a:stretch>
            <a:fillRect/>
          </a:stretch>
        </p:blipFill>
        <p:spPr>
          <a:xfrm>
            <a:off x="2218350" y="1652425"/>
            <a:ext cx="7755300" cy="4242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249" name="Google Shape;249;p34"/>
          <p:cNvSpPr txBox="1"/>
          <p:nvPr/>
        </p:nvSpPr>
        <p:spPr>
          <a:xfrm>
            <a:off x="214325" y="188650"/>
            <a:ext cx="76356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EXEMPLOS</a:t>
            </a:r>
            <a:endParaRPr b="1" sz="3200">
              <a:solidFill>
                <a:schemeClr val="dk2"/>
              </a:solidFill>
              <a:latin typeface="Calibri"/>
              <a:ea typeface="Calibri"/>
              <a:cs typeface="Calibri"/>
              <a:sym typeface="Calibri"/>
            </a:endParaRPr>
          </a:p>
        </p:txBody>
      </p:sp>
      <p:pic>
        <p:nvPicPr>
          <p:cNvPr id="250" name="Google Shape;250;p34"/>
          <p:cNvPicPr preferRelativeResize="0"/>
          <p:nvPr/>
        </p:nvPicPr>
        <p:blipFill>
          <a:blip r:embed="rId3">
            <a:alphaModFix/>
          </a:blip>
          <a:stretch>
            <a:fillRect/>
          </a:stretch>
        </p:blipFill>
        <p:spPr>
          <a:xfrm>
            <a:off x="2190750" y="1385888"/>
            <a:ext cx="7810500" cy="4086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5"/>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256" name="Google Shape;256;p35"/>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DIMINUIÇÃO DO MATERIAL EM PROCESSO</a:t>
            </a:r>
            <a:endParaRPr b="1" sz="3200">
              <a:solidFill>
                <a:schemeClr val="dk2"/>
              </a:solidFill>
              <a:latin typeface="Calibri"/>
              <a:ea typeface="Calibri"/>
              <a:cs typeface="Calibri"/>
              <a:sym typeface="Calibri"/>
            </a:endParaRPr>
          </a:p>
        </p:txBody>
      </p:sp>
      <p:sp>
        <p:nvSpPr>
          <p:cNvPr id="257" name="Google Shape;257;p35"/>
          <p:cNvSpPr/>
          <p:nvPr/>
        </p:nvSpPr>
        <p:spPr>
          <a:xfrm>
            <a:off x="335350" y="1050550"/>
            <a:ext cx="11325300" cy="52026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1000"/>
              </a:spcBef>
              <a:spcAft>
                <a:spcPts val="0"/>
              </a:spcAft>
              <a:buNone/>
            </a:pPr>
            <a:r>
              <a:rPr lang="pt-BR" sz="2000">
                <a:solidFill>
                  <a:schemeClr val="dk1"/>
                </a:solidFill>
                <a:latin typeface="Calibri"/>
                <a:ea typeface="Calibri"/>
                <a:cs typeface="Calibri"/>
                <a:sym typeface="Calibri"/>
              </a:rPr>
              <a:t>O material em processo inclui a movimentação dos materiais, ferramental e suprimentos de/para as unidades de produção, bem como o manuseio que ocorre na estação de trabalho ou  no centro de usinagem. </a:t>
            </a:r>
            <a:endParaRPr sz="2000">
              <a:solidFill>
                <a:schemeClr val="dk1"/>
              </a:solidFill>
              <a:latin typeface="Calibri"/>
              <a:ea typeface="Calibri"/>
              <a:cs typeface="Calibri"/>
              <a:sym typeface="Calibri"/>
            </a:endParaRPr>
          </a:p>
          <a:p>
            <a:pPr indent="0" lvl="0" marL="0" marR="0" rtl="0" algn="just">
              <a:lnSpc>
                <a:spcPct val="150000"/>
              </a:lnSpc>
              <a:spcBef>
                <a:spcPts val="1000"/>
              </a:spcBef>
              <a:spcAft>
                <a:spcPts val="0"/>
              </a:spcAft>
              <a:buNone/>
            </a:pPr>
            <a:r>
              <a:rPr lang="pt-BR" sz="2000">
                <a:solidFill>
                  <a:schemeClr val="dk1"/>
                </a:solidFill>
                <a:latin typeface="Calibri"/>
                <a:ea typeface="Calibri"/>
                <a:cs typeface="Calibri"/>
                <a:sym typeface="Calibri"/>
              </a:rPr>
              <a:t>Armazenagem em processo pode incluir a armazenagem do material, ferramental e suprimentos necessários para apoiar a produção. </a:t>
            </a:r>
            <a:endParaRPr sz="2000">
              <a:solidFill>
                <a:schemeClr val="dk1"/>
              </a:solidFill>
              <a:latin typeface="Calibri"/>
              <a:ea typeface="Calibri"/>
              <a:cs typeface="Calibri"/>
              <a:sym typeface="Calibri"/>
            </a:endParaRPr>
          </a:p>
          <a:p>
            <a:pPr indent="-355600" lvl="0" marL="914400" marR="0" rtl="0" algn="just">
              <a:lnSpc>
                <a:spcPct val="100000"/>
              </a:lnSpc>
              <a:spcBef>
                <a:spcPts val="1000"/>
              </a:spcBef>
              <a:spcAft>
                <a:spcPts val="0"/>
              </a:spcAft>
              <a:buClr>
                <a:schemeClr val="dk1"/>
              </a:buClr>
              <a:buSzPts val="2000"/>
              <a:buFont typeface="Calibri"/>
              <a:buChar char="❖"/>
            </a:pPr>
            <a:r>
              <a:rPr b="1" lang="pt-BR" sz="2000" u="sng">
                <a:solidFill>
                  <a:schemeClr val="dk1"/>
                </a:solidFill>
                <a:latin typeface="Calibri"/>
                <a:ea typeface="Calibri"/>
                <a:cs typeface="Calibri"/>
                <a:sym typeface="Calibri"/>
              </a:rPr>
              <a:t>Regras gerais para ser utilizadas ao projetar esse sistema</a:t>
            </a:r>
            <a:r>
              <a:rPr b="1" lang="pt-BR" sz="2000" u="sng">
                <a:solidFill>
                  <a:schemeClr val="dk1"/>
                </a:solidFill>
                <a:latin typeface="Calibri"/>
                <a:ea typeface="Calibri"/>
                <a:cs typeface="Calibri"/>
                <a:sym typeface="Calibri"/>
              </a:rPr>
              <a:t>:</a:t>
            </a:r>
            <a:endParaRPr b="1"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Quanto menos manuseio melhor;</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Agarre, segure e não solte;</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Elimine, combine e simplifique;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Movimentar e armazenar materiais incorre em custos;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Posicione previamente o material.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1" name="Shape 261"/>
        <p:cNvGrpSpPr/>
        <p:nvPr/>
      </p:nvGrpSpPr>
      <p:grpSpPr>
        <a:xfrm>
          <a:off x="0" y="0"/>
          <a:ext cx="0" cy="0"/>
          <a:chOff x="0" y="0"/>
          <a:chExt cx="0" cy="0"/>
        </a:xfrm>
      </p:grpSpPr>
      <p:sp>
        <p:nvSpPr>
          <p:cNvPr id="262" name="Google Shape;262;p36"/>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263" name="Google Shape;263;p36"/>
          <p:cNvSpPr txBox="1"/>
          <p:nvPr/>
        </p:nvSpPr>
        <p:spPr>
          <a:xfrm>
            <a:off x="214325" y="188650"/>
            <a:ext cx="76356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EXEMPLOS</a:t>
            </a:r>
            <a:endParaRPr b="1" sz="3200">
              <a:solidFill>
                <a:schemeClr val="dk2"/>
              </a:solidFill>
              <a:latin typeface="Calibri"/>
              <a:ea typeface="Calibri"/>
              <a:cs typeface="Calibri"/>
              <a:sym typeface="Calibri"/>
            </a:endParaRPr>
          </a:p>
        </p:txBody>
      </p:sp>
      <p:pic>
        <p:nvPicPr>
          <p:cNvPr id="264" name="Google Shape;264;p36"/>
          <p:cNvPicPr preferRelativeResize="0"/>
          <p:nvPr/>
        </p:nvPicPr>
        <p:blipFill>
          <a:blip r:embed="rId3">
            <a:alphaModFix/>
          </a:blip>
          <a:stretch>
            <a:fillRect/>
          </a:stretch>
        </p:blipFill>
        <p:spPr>
          <a:xfrm>
            <a:off x="2234050" y="2198513"/>
            <a:ext cx="7723901" cy="2460975"/>
          </a:xfrm>
          <a:prstGeom prst="rect">
            <a:avLst/>
          </a:prstGeom>
          <a:noFill/>
          <a:ln>
            <a:noFill/>
          </a:ln>
        </p:spPr>
      </p:pic>
      <p:sp>
        <p:nvSpPr>
          <p:cNvPr id="265" name="Google Shape;265;p36"/>
          <p:cNvSpPr/>
          <p:nvPr/>
        </p:nvSpPr>
        <p:spPr>
          <a:xfrm>
            <a:off x="335350" y="1126750"/>
            <a:ext cx="11325300" cy="818400"/>
          </a:xfrm>
          <a:prstGeom prst="rect">
            <a:avLst/>
          </a:prstGeom>
          <a:noFill/>
          <a:ln>
            <a:noFill/>
          </a:ln>
        </p:spPr>
        <p:txBody>
          <a:bodyPr anchorCtr="0" anchor="t" bIns="45700" lIns="91425" spcFirstLastPara="1" rIns="91425" wrap="square" tIns="45700">
            <a:noAutofit/>
          </a:bodyPr>
          <a:lstStyle/>
          <a:p>
            <a:pPr indent="-355600" lvl="0" marL="457200" marR="0" rtl="0" algn="just">
              <a:lnSpc>
                <a:spcPct val="100000"/>
              </a:lnSpc>
              <a:spcBef>
                <a:spcPts val="10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 Armazenagem do material em um estado de produção </a:t>
            </a:r>
            <a:r>
              <a:rPr lang="pt-BR" sz="2000">
                <a:solidFill>
                  <a:schemeClr val="dk1"/>
                </a:solidFill>
                <a:latin typeface="Calibri"/>
                <a:ea typeface="Calibri"/>
                <a:cs typeface="Calibri"/>
                <a:sym typeface="Calibri"/>
              </a:rPr>
              <a:t>semi acabado</a:t>
            </a:r>
            <a:r>
              <a:rPr lang="pt-BR"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Clr>
                <a:schemeClr val="dk1"/>
              </a:buClr>
              <a:buSzPts val="1100"/>
              <a:buFont typeface="Arial"/>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7"/>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271" name="Google Shape;271;p37"/>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PRODUÇÃO JUST IN TIME</a:t>
            </a:r>
            <a:endParaRPr b="1" sz="3200">
              <a:solidFill>
                <a:schemeClr val="dk2"/>
              </a:solidFill>
              <a:latin typeface="Calibri"/>
              <a:ea typeface="Calibri"/>
              <a:cs typeface="Calibri"/>
              <a:sym typeface="Calibri"/>
            </a:endParaRPr>
          </a:p>
        </p:txBody>
      </p:sp>
      <p:sp>
        <p:nvSpPr>
          <p:cNvPr id="272" name="Google Shape;272;p37"/>
          <p:cNvSpPr/>
          <p:nvPr/>
        </p:nvSpPr>
        <p:spPr>
          <a:xfrm>
            <a:off x="309700" y="935175"/>
            <a:ext cx="11325300" cy="52026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1000"/>
              </a:spcBef>
              <a:spcAft>
                <a:spcPts val="0"/>
              </a:spcAft>
              <a:buNone/>
            </a:pPr>
            <a:r>
              <a:rPr lang="pt-BR" sz="2000">
                <a:solidFill>
                  <a:schemeClr val="dk1"/>
                </a:solidFill>
                <a:latin typeface="Calibri"/>
                <a:ea typeface="Calibri"/>
                <a:cs typeface="Calibri"/>
                <a:sym typeface="Calibri"/>
              </a:rPr>
              <a:t>O sistema de produção just-in-time (JIT) foi desenvolvido mais de quatro décadas atrás por Taiichi Ohno  na Toyota Motor Company no Japão. </a:t>
            </a:r>
            <a:endParaRPr sz="2000">
              <a:solidFill>
                <a:schemeClr val="dk1"/>
              </a:solidFill>
              <a:latin typeface="Calibri"/>
              <a:ea typeface="Calibri"/>
              <a:cs typeface="Calibri"/>
              <a:sym typeface="Calibri"/>
            </a:endParaRPr>
          </a:p>
          <a:p>
            <a:pPr indent="0" lvl="0" marL="0" marR="0" rtl="0" algn="just">
              <a:lnSpc>
                <a:spcPct val="150000"/>
              </a:lnSpc>
              <a:spcBef>
                <a:spcPts val="1000"/>
              </a:spcBef>
              <a:spcAft>
                <a:spcPts val="0"/>
              </a:spcAft>
              <a:buNone/>
            </a:pPr>
            <a:r>
              <a:rPr lang="pt-BR" sz="2000">
                <a:solidFill>
                  <a:schemeClr val="dk1"/>
                </a:solidFill>
                <a:latin typeface="Calibri"/>
                <a:ea typeface="Calibri"/>
                <a:cs typeface="Calibri"/>
                <a:sym typeface="Calibri"/>
              </a:rPr>
              <a:t>JIT se aplica a todas as formas de fabricação,  tais como produção por encomenda, processos e fabricação repetitiva. </a:t>
            </a:r>
            <a:endParaRPr sz="2000">
              <a:solidFill>
                <a:schemeClr val="dk1"/>
              </a:solidFill>
              <a:latin typeface="Calibri"/>
              <a:ea typeface="Calibri"/>
              <a:cs typeface="Calibri"/>
              <a:sym typeface="Calibri"/>
            </a:endParaRPr>
          </a:p>
          <a:p>
            <a:pPr indent="-355600" lvl="0" marL="914400" marR="0" rtl="0" algn="just">
              <a:lnSpc>
                <a:spcPct val="100000"/>
              </a:lnSpc>
              <a:spcBef>
                <a:spcPts val="1000"/>
              </a:spcBef>
              <a:spcAft>
                <a:spcPts val="0"/>
              </a:spcAft>
              <a:buClr>
                <a:schemeClr val="dk1"/>
              </a:buClr>
              <a:buSzPts val="2000"/>
              <a:buFont typeface="Calibri"/>
              <a:buChar char="❖"/>
            </a:pPr>
            <a:r>
              <a:rPr b="1" lang="pt-BR" sz="2000" u="sng">
                <a:solidFill>
                  <a:schemeClr val="dk1"/>
                </a:solidFill>
                <a:latin typeface="Calibri"/>
                <a:ea typeface="Calibri"/>
                <a:cs typeface="Calibri"/>
                <a:sym typeface="Calibri"/>
              </a:rPr>
              <a:t>Sete categorias de desperdício para redução de homens-hora na Toyota</a:t>
            </a:r>
            <a:r>
              <a:rPr b="1" lang="pt-BR" sz="2000" u="sng">
                <a:solidFill>
                  <a:schemeClr val="dk1"/>
                </a:solidFill>
                <a:latin typeface="Calibri"/>
                <a:ea typeface="Calibri"/>
                <a:cs typeface="Calibri"/>
                <a:sym typeface="Calibri"/>
              </a:rPr>
              <a:t>:</a:t>
            </a:r>
            <a:endParaRPr b="1"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1900">
                <a:solidFill>
                  <a:schemeClr val="dk1"/>
                </a:solidFill>
                <a:latin typeface="Calibri"/>
                <a:ea typeface="Calibri"/>
                <a:cs typeface="Calibri"/>
                <a:sym typeface="Calibri"/>
              </a:rPr>
              <a:t>Desperdício proveniente da superprodução; </a:t>
            </a:r>
            <a:endParaRPr sz="19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1900">
                <a:solidFill>
                  <a:schemeClr val="dk1"/>
                </a:solidFill>
                <a:latin typeface="Calibri"/>
                <a:ea typeface="Calibri"/>
                <a:cs typeface="Calibri"/>
                <a:sym typeface="Calibri"/>
              </a:rPr>
              <a:t>Desperdício proveniente do tempo em mãos (esperando);  </a:t>
            </a:r>
            <a:endParaRPr sz="19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1900">
                <a:solidFill>
                  <a:schemeClr val="dk1"/>
                </a:solidFill>
                <a:latin typeface="Calibri"/>
                <a:ea typeface="Calibri"/>
                <a:cs typeface="Calibri"/>
                <a:sym typeface="Calibri"/>
              </a:rPr>
              <a:t>Desperdício proveniente do transporte;</a:t>
            </a:r>
            <a:endParaRPr sz="19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1900">
                <a:solidFill>
                  <a:schemeClr val="dk1"/>
                </a:solidFill>
                <a:latin typeface="Calibri"/>
                <a:ea typeface="Calibri"/>
                <a:cs typeface="Calibri"/>
                <a:sym typeface="Calibri"/>
              </a:rPr>
              <a:t>Desperdício proveniente do próprio processo;  </a:t>
            </a:r>
            <a:endParaRPr sz="19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1900">
                <a:solidFill>
                  <a:schemeClr val="dk1"/>
                </a:solidFill>
                <a:latin typeface="Calibri"/>
                <a:ea typeface="Calibri"/>
                <a:cs typeface="Calibri"/>
                <a:sym typeface="Calibri"/>
              </a:rPr>
              <a:t>Desperdício proveniente do estoque desnecessário ;</a:t>
            </a:r>
            <a:endParaRPr sz="19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1900">
                <a:solidFill>
                  <a:schemeClr val="dk1"/>
                </a:solidFill>
                <a:latin typeface="Calibri"/>
                <a:ea typeface="Calibri"/>
                <a:cs typeface="Calibri"/>
                <a:sym typeface="Calibri"/>
              </a:rPr>
              <a:t>Desperdício proveniente de movimentações desnecessárias; </a:t>
            </a:r>
            <a:endParaRPr sz="19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1900">
                <a:solidFill>
                  <a:schemeClr val="dk1"/>
                </a:solidFill>
                <a:latin typeface="Calibri"/>
                <a:ea typeface="Calibri"/>
                <a:cs typeface="Calibri"/>
                <a:sym typeface="Calibri"/>
              </a:rPr>
              <a:t>Desperdício proveniente da produção de bens defeituosos.</a:t>
            </a:r>
            <a:endParaRPr sz="19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8"/>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278" name="Google Shape;278;p38"/>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PRODUÇÃO JUST IN TIME</a:t>
            </a:r>
            <a:endParaRPr b="1" sz="3200">
              <a:solidFill>
                <a:schemeClr val="dk2"/>
              </a:solidFill>
              <a:latin typeface="Calibri"/>
              <a:ea typeface="Calibri"/>
              <a:cs typeface="Calibri"/>
              <a:sym typeface="Calibri"/>
            </a:endParaRPr>
          </a:p>
        </p:txBody>
      </p:sp>
      <p:sp>
        <p:nvSpPr>
          <p:cNvPr id="279" name="Google Shape;279;p38"/>
          <p:cNvSpPr/>
          <p:nvPr/>
        </p:nvSpPr>
        <p:spPr>
          <a:xfrm>
            <a:off x="309700" y="1135725"/>
            <a:ext cx="11325300" cy="5002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1000"/>
              </a:spcBef>
              <a:spcAft>
                <a:spcPts val="0"/>
              </a:spcAft>
              <a:buNone/>
            </a:pPr>
            <a:r>
              <a:rPr lang="pt-BR" sz="2000">
                <a:solidFill>
                  <a:schemeClr val="dk1"/>
                </a:solidFill>
                <a:latin typeface="Calibri"/>
                <a:ea typeface="Calibri"/>
                <a:cs typeface="Calibri"/>
                <a:sym typeface="Calibri"/>
              </a:rPr>
              <a:t>O objetivo da produção JIT é coerente com a definição de manuseio de materiais.</a:t>
            </a:r>
            <a:endParaRPr sz="2000">
              <a:solidFill>
                <a:schemeClr val="dk1"/>
              </a:solidFill>
              <a:latin typeface="Calibri"/>
              <a:ea typeface="Calibri"/>
              <a:cs typeface="Calibri"/>
              <a:sym typeface="Calibri"/>
            </a:endParaRPr>
          </a:p>
          <a:p>
            <a:pPr indent="0" lvl="0" marL="0" marR="0" rtl="0" algn="just">
              <a:lnSpc>
                <a:spcPct val="150000"/>
              </a:lnSpc>
              <a:spcBef>
                <a:spcPts val="1000"/>
              </a:spcBef>
              <a:spcAft>
                <a:spcPts val="0"/>
              </a:spcAft>
              <a:buNone/>
            </a:pPr>
            <a:r>
              <a:rPr lang="pt-BR" sz="2000">
                <a:solidFill>
                  <a:schemeClr val="dk1"/>
                </a:solidFill>
                <a:latin typeface="Calibri"/>
                <a:ea typeface="Calibri"/>
                <a:cs typeface="Calibri"/>
                <a:sym typeface="Calibri"/>
              </a:rPr>
              <a:t>Essa frase é  o ponto alto do entendimento:  “just-in-time significa ter a peça certa no lugar certo, na quantidade certa e no momento certo”.</a:t>
            </a:r>
            <a:endParaRPr sz="2000">
              <a:solidFill>
                <a:schemeClr val="dk1"/>
              </a:solidFill>
              <a:latin typeface="Calibri"/>
              <a:ea typeface="Calibri"/>
              <a:cs typeface="Calibri"/>
              <a:sym typeface="Calibri"/>
            </a:endParaRPr>
          </a:p>
          <a:p>
            <a:pPr indent="0" lvl="0" marL="0" marR="0" rtl="0" algn="just">
              <a:lnSpc>
                <a:spcPct val="150000"/>
              </a:lnSpc>
              <a:spcBef>
                <a:spcPts val="1000"/>
              </a:spcBef>
              <a:spcAft>
                <a:spcPts val="0"/>
              </a:spcAft>
              <a:buNone/>
            </a:pPr>
            <a:r>
              <a:rPr lang="pt-BR" sz="2000">
                <a:solidFill>
                  <a:schemeClr val="dk1"/>
                </a:solidFill>
                <a:latin typeface="Calibri"/>
                <a:ea typeface="Calibri"/>
                <a:cs typeface="Calibri"/>
                <a:sym typeface="Calibri"/>
              </a:rPr>
              <a:t>D</a:t>
            </a:r>
            <a:r>
              <a:rPr lang="pt-BR" sz="2000">
                <a:solidFill>
                  <a:schemeClr val="dk1"/>
                </a:solidFill>
                <a:latin typeface="Calibri"/>
                <a:ea typeface="Calibri"/>
                <a:cs typeface="Calibri"/>
                <a:sym typeface="Calibri"/>
              </a:rPr>
              <a:t>efinimos manuseio  de materiais como “prover a quantidade certa do material certo, na condição certa, no lugar certo, no momento certo, na posição certa, na sequência certa e nos custos certos utilizando o método certo”.</a:t>
            </a: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9"/>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285" name="Google Shape;285;p39"/>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PRODUÇÃO JUST IN TIME</a:t>
            </a:r>
            <a:endParaRPr b="1" sz="3200">
              <a:solidFill>
                <a:schemeClr val="dk2"/>
              </a:solidFill>
              <a:latin typeface="Calibri"/>
              <a:ea typeface="Calibri"/>
              <a:cs typeface="Calibri"/>
              <a:sym typeface="Calibri"/>
            </a:endParaRPr>
          </a:p>
        </p:txBody>
      </p:sp>
      <p:sp>
        <p:nvSpPr>
          <p:cNvPr id="286" name="Google Shape;286;p39"/>
          <p:cNvSpPr/>
          <p:nvPr/>
        </p:nvSpPr>
        <p:spPr>
          <a:xfrm>
            <a:off x="309700" y="1050550"/>
            <a:ext cx="11325300" cy="50871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1000"/>
              </a:spcBef>
              <a:spcAft>
                <a:spcPts val="0"/>
              </a:spcAft>
              <a:buNone/>
            </a:pPr>
            <a:r>
              <a:rPr lang="pt-BR" sz="2000">
                <a:solidFill>
                  <a:schemeClr val="dk1"/>
                </a:solidFill>
                <a:latin typeface="Calibri"/>
                <a:ea typeface="Calibri"/>
                <a:cs typeface="Calibri"/>
                <a:sym typeface="Calibri"/>
              </a:rPr>
              <a:t>Cinco maneiras específicas em que a filosofia JIT pode ser executada:</a:t>
            </a: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355600" lvl="0" marL="914400" marR="0" rtl="0" algn="just">
              <a:lnSpc>
                <a:spcPct val="100000"/>
              </a:lnSpc>
              <a:spcBef>
                <a:spcPts val="1000"/>
              </a:spcBef>
              <a:spcAft>
                <a:spcPts val="0"/>
              </a:spcAft>
              <a:buClr>
                <a:schemeClr val="dk1"/>
              </a:buClr>
              <a:buSzPts val="2000"/>
              <a:buFont typeface="Calibri"/>
              <a:buAutoNum type="arabicPeriod"/>
            </a:pPr>
            <a:r>
              <a:rPr b="1" lang="pt-BR" sz="2000">
                <a:solidFill>
                  <a:schemeClr val="dk1"/>
                </a:solidFill>
                <a:latin typeface="Calibri"/>
                <a:ea typeface="Calibri"/>
                <a:cs typeface="Calibri"/>
                <a:sym typeface="Calibri"/>
              </a:rPr>
              <a:t>Visibilidade:</a:t>
            </a:r>
            <a:r>
              <a:rPr lang="pt-BR" sz="2000">
                <a:solidFill>
                  <a:schemeClr val="dk1"/>
                </a:solidFill>
                <a:latin typeface="Calibri"/>
                <a:ea typeface="Calibri"/>
                <a:cs typeface="Calibri"/>
                <a:sym typeface="Calibri"/>
              </a:rPr>
              <a:t> pode ser obtida pela técnica de quadros eletrônicos para retorno rápido, sistemas  puxados com kanbans, quadros de problemas, contêineres com cores padronizadas, sistemas de armazenagem descentralizada, áreas dedicadas demarcadas para estoques e ferramentas etc.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AutoNum type="arabicPeriod"/>
            </a:pPr>
            <a:r>
              <a:rPr b="1" lang="pt-BR" sz="2000">
                <a:solidFill>
                  <a:schemeClr val="dk1"/>
                </a:solidFill>
                <a:latin typeface="Calibri"/>
                <a:ea typeface="Calibri"/>
                <a:cs typeface="Calibri"/>
                <a:sym typeface="Calibri"/>
              </a:rPr>
              <a:t>Simplicidade:</a:t>
            </a:r>
            <a:r>
              <a:rPr lang="pt-BR" sz="2000">
                <a:solidFill>
                  <a:schemeClr val="dk1"/>
                </a:solidFill>
                <a:latin typeface="Calibri"/>
                <a:ea typeface="Calibri"/>
                <a:cs typeface="Calibri"/>
                <a:sym typeface="Calibri"/>
              </a:rPr>
              <a:t> pode ser alcançada com um sistema puxado com kanbans, alterações simples dos setups,  processos certificados, lotes pequenos, produção nivelada, máquinas simples, manuseio de materiais  simplificado, trabalhadores multifuncionais, trabalho em equipe etc.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AutoNum type="arabicPeriod"/>
            </a:pPr>
            <a:r>
              <a:rPr b="1" lang="pt-BR" sz="2000">
                <a:solidFill>
                  <a:schemeClr val="dk1"/>
                </a:solidFill>
                <a:latin typeface="Calibri"/>
                <a:ea typeface="Calibri"/>
                <a:cs typeface="Calibri"/>
                <a:sym typeface="Calibri"/>
              </a:rPr>
              <a:t>Flexibilidade:</a:t>
            </a:r>
            <a:r>
              <a:rPr lang="pt-BR" sz="2000">
                <a:solidFill>
                  <a:schemeClr val="dk1"/>
                </a:solidFill>
                <a:latin typeface="Calibri"/>
                <a:ea typeface="Calibri"/>
                <a:cs typeface="Calibri"/>
                <a:sym typeface="Calibri"/>
              </a:rPr>
              <a:t> pode ser alcançada com tempos setup curtos, tempos de produção curtos, cartões kanban, equipamento flexível de manuseio de materiais, trabalhadores multifuncionais, linhas de sequenciamento de modelo misto etc.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AutoNum type="arabicPeriod"/>
            </a:pPr>
            <a:r>
              <a:rPr b="1" lang="pt-BR" sz="2000">
                <a:solidFill>
                  <a:schemeClr val="dk1"/>
                </a:solidFill>
                <a:latin typeface="Calibri"/>
                <a:ea typeface="Calibri"/>
                <a:cs typeface="Calibri"/>
                <a:sym typeface="Calibri"/>
              </a:rPr>
              <a:t>Padronização:</a:t>
            </a:r>
            <a:r>
              <a:rPr lang="pt-BR" sz="2000">
                <a:solidFill>
                  <a:schemeClr val="dk1"/>
                </a:solidFill>
                <a:latin typeface="Calibri"/>
                <a:ea typeface="Calibri"/>
                <a:cs typeface="Calibri"/>
                <a:sym typeface="Calibri"/>
              </a:rPr>
              <a:t> pode ser alcançada com ferramentas, equipamentos, paletes, métodos, contêineres,  caixas, materiais e processos padronizados.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AutoNum type="arabicPeriod"/>
            </a:pPr>
            <a:r>
              <a:rPr b="1" lang="pt-BR" sz="2000">
                <a:solidFill>
                  <a:schemeClr val="dk1"/>
                </a:solidFill>
                <a:latin typeface="Calibri"/>
                <a:ea typeface="Calibri"/>
                <a:cs typeface="Calibri"/>
                <a:sym typeface="Calibri"/>
              </a:rPr>
              <a:t>Organização:</a:t>
            </a:r>
            <a:r>
              <a:rPr lang="pt-BR" sz="2000">
                <a:solidFill>
                  <a:schemeClr val="dk1"/>
                </a:solidFill>
                <a:latin typeface="Calibri"/>
                <a:ea typeface="Calibri"/>
                <a:cs typeface="Calibri"/>
                <a:sym typeface="Calibri"/>
              </a:rPr>
              <a:t> é necessária para os setups, a limpeza, as áreas de trabalho, o sistema kanban, as áreas  de armazenamento, as ferramentas, as atividades de trabalho em equipe, etc.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t/>
            </a:r>
            <a:endParaRPr b="1" sz="2000" u="sng">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0"/>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292" name="Google Shape;292;p40"/>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PRODUÇÃO JUST IN TIME</a:t>
            </a:r>
            <a:endParaRPr b="1" sz="3200">
              <a:solidFill>
                <a:schemeClr val="dk2"/>
              </a:solidFill>
              <a:latin typeface="Calibri"/>
              <a:ea typeface="Calibri"/>
              <a:cs typeface="Calibri"/>
              <a:sym typeface="Calibri"/>
            </a:endParaRPr>
          </a:p>
        </p:txBody>
      </p:sp>
      <p:sp>
        <p:nvSpPr>
          <p:cNvPr id="293" name="Google Shape;293;p40"/>
          <p:cNvSpPr/>
          <p:nvPr/>
        </p:nvSpPr>
        <p:spPr>
          <a:xfrm>
            <a:off x="309700" y="1050550"/>
            <a:ext cx="11325300" cy="50871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1000"/>
              </a:spcBef>
              <a:spcAft>
                <a:spcPts val="0"/>
              </a:spcAft>
              <a:buNone/>
            </a:pPr>
            <a:r>
              <a:rPr lang="pt-BR" sz="2000">
                <a:solidFill>
                  <a:schemeClr val="dk1"/>
                </a:solidFill>
                <a:latin typeface="Calibri"/>
                <a:ea typeface="Calibri"/>
                <a:cs typeface="Calibri"/>
                <a:sym typeface="Calibri"/>
              </a:rPr>
              <a:t>Desperdício pode ser definido como qualquer recurso que acrescenta custo, mas, que  não agrega valor ao produto.</a:t>
            </a: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355600" lvl="0" marL="914400" rtl="0" algn="just">
              <a:spcBef>
                <a:spcPts val="1000"/>
              </a:spcBef>
              <a:spcAft>
                <a:spcPts val="0"/>
              </a:spcAft>
              <a:buClr>
                <a:schemeClr val="dk1"/>
              </a:buClr>
              <a:buSzPts val="2000"/>
              <a:buFont typeface="Calibri"/>
              <a:buChar char="❖"/>
            </a:pPr>
            <a:r>
              <a:rPr b="1" lang="pt-BR" sz="2000" u="sng">
                <a:solidFill>
                  <a:schemeClr val="dk1"/>
                </a:solidFill>
                <a:latin typeface="Calibri"/>
                <a:ea typeface="Calibri"/>
                <a:cs typeface="Calibri"/>
                <a:sym typeface="Calibri"/>
              </a:rPr>
              <a:t>Fontes de desperdício mais comuns em uma fábrica:</a:t>
            </a:r>
            <a:endParaRPr b="1" sz="2000" u="sng">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Equipamentos;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Estoques;</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Espaço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Tempo;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Mão de obra;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Manuseio ;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Transporte;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Papelada.</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1"/>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299" name="Google Shape;299;p41"/>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IMPACTO DO JIT NO PROJETO DAS INSTALAÇÕES</a:t>
            </a:r>
            <a:endParaRPr b="1" sz="3200">
              <a:solidFill>
                <a:schemeClr val="dk2"/>
              </a:solidFill>
              <a:latin typeface="Calibri"/>
              <a:ea typeface="Calibri"/>
              <a:cs typeface="Calibri"/>
              <a:sym typeface="Calibri"/>
            </a:endParaRPr>
          </a:p>
        </p:txBody>
      </p:sp>
      <p:sp>
        <p:nvSpPr>
          <p:cNvPr id="300" name="Google Shape;300;p41"/>
          <p:cNvSpPr/>
          <p:nvPr/>
        </p:nvSpPr>
        <p:spPr>
          <a:xfrm>
            <a:off x="309700" y="1050550"/>
            <a:ext cx="11325300" cy="50871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1000"/>
              </a:spcBef>
              <a:spcAft>
                <a:spcPts val="0"/>
              </a:spcAft>
              <a:buNone/>
            </a:pPr>
            <a:r>
              <a:rPr lang="pt-BR" sz="2000">
                <a:solidFill>
                  <a:schemeClr val="dk1"/>
                </a:solidFill>
                <a:latin typeface="Calibri"/>
                <a:ea typeface="Calibri"/>
                <a:cs typeface="Calibri"/>
                <a:sym typeface="Calibri"/>
              </a:rPr>
              <a:t>Existem muitos conceitos e técnicas relacionados ao sistema de produção JIT que impactam o projeto do  prédio, o arranjo físico da instalação e o sistema de manuseio de materiais, tais como</a:t>
            </a: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355600" lvl="0" marL="914400" marR="0" rtl="0" algn="just">
              <a:lnSpc>
                <a:spcPct val="100000"/>
              </a:lnSpc>
              <a:spcBef>
                <a:spcPts val="100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Diminuição dos estoques;</a:t>
            </a:r>
            <a:endParaRPr b="1" sz="2000">
              <a:solidFill>
                <a:schemeClr val="dk1"/>
              </a:solidFill>
              <a:latin typeface="Calibri"/>
              <a:ea typeface="Calibri"/>
              <a:cs typeface="Calibri"/>
              <a:sym typeface="Calibri"/>
            </a:endParaRPr>
          </a:p>
          <a:p>
            <a:pPr indent="0" lvl="0" marL="1828800" marR="0" rtl="0" algn="just">
              <a:lnSpc>
                <a:spcPct val="100000"/>
              </a:lnSpc>
              <a:spcBef>
                <a:spcPts val="1000"/>
              </a:spcBef>
              <a:spcAft>
                <a:spcPts val="0"/>
              </a:spcAft>
              <a:buNone/>
            </a:pPr>
            <a:r>
              <a:t/>
            </a:r>
            <a:endParaRPr b="1" sz="2000">
              <a:solidFill>
                <a:schemeClr val="dk1"/>
              </a:solidFill>
              <a:latin typeface="Calibri"/>
              <a:ea typeface="Calibri"/>
              <a:cs typeface="Calibri"/>
              <a:sym typeface="Calibri"/>
            </a:endParaRPr>
          </a:p>
          <a:p>
            <a:pPr indent="-355600" lvl="0" marL="914400" marR="0" rtl="0" algn="just">
              <a:lnSpc>
                <a:spcPct val="100000"/>
              </a:lnSpc>
              <a:spcBef>
                <a:spcPts val="100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Entregas nos pontos de uso;</a:t>
            </a:r>
            <a:endParaRPr b="1" sz="2000">
              <a:solidFill>
                <a:schemeClr val="dk1"/>
              </a:solidFill>
              <a:latin typeface="Calibri"/>
              <a:ea typeface="Calibri"/>
              <a:cs typeface="Calibri"/>
              <a:sym typeface="Calibri"/>
            </a:endParaRPr>
          </a:p>
          <a:p>
            <a:pPr indent="0" lvl="0" marL="1828800" marR="0" rtl="0" algn="just">
              <a:lnSpc>
                <a:spcPct val="100000"/>
              </a:lnSpc>
              <a:spcBef>
                <a:spcPts val="1000"/>
              </a:spcBef>
              <a:spcAft>
                <a:spcPts val="0"/>
              </a:spcAft>
              <a:buNone/>
            </a:pPr>
            <a:r>
              <a:t/>
            </a:r>
            <a:endParaRPr b="1" sz="2000">
              <a:solidFill>
                <a:schemeClr val="dk1"/>
              </a:solidFill>
              <a:latin typeface="Calibri"/>
              <a:ea typeface="Calibri"/>
              <a:cs typeface="Calibri"/>
              <a:sym typeface="Calibri"/>
            </a:endParaRPr>
          </a:p>
          <a:p>
            <a:pPr indent="-355600" lvl="0" marL="914400" marR="0" rtl="0" algn="just">
              <a:lnSpc>
                <a:spcPct val="100000"/>
              </a:lnSpc>
              <a:spcBef>
                <a:spcPts val="100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Qualidade na origem;</a:t>
            </a:r>
            <a:endParaRPr b="1"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b="1" sz="2000">
              <a:solidFill>
                <a:schemeClr val="dk1"/>
              </a:solidFill>
              <a:latin typeface="Calibri"/>
              <a:ea typeface="Calibri"/>
              <a:cs typeface="Calibri"/>
              <a:sym typeface="Calibri"/>
            </a:endParaRPr>
          </a:p>
          <a:p>
            <a:pPr indent="-355600" lvl="0" marL="914400" marR="0" rtl="0" algn="just">
              <a:lnSpc>
                <a:spcPct val="100000"/>
              </a:lnSpc>
              <a:spcBef>
                <a:spcPts val="1000"/>
              </a:spcBef>
              <a:spcAft>
                <a:spcPts val="0"/>
              </a:spcAft>
              <a:buClr>
                <a:schemeClr val="dk1"/>
              </a:buClr>
              <a:buSzPts val="2000"/>
              <a:buFont typeface="Calibri"/>
              <a:buChar char="●"/>
            </a:pPr>
            <a:r>
              <a:rPr b="1" lang="pt-BR" sz="2000">
                <a:solidFill>
                  <a:schemeClr val="dk1"/>
                </a:solidFill>
                <a:latin typeface="Calibri"/>
                <a:ea typeface="Calibri"/>
                <a:cs typeface="Calibri"/>
                <a:sym typeface="Calibri"/>
              </a:rPr>
              <a:t>Melhor comunicação, balanceamento de linhas e trabalhadores multifuncionais.</a:t>
            </a:r>
            <a:endParaRPr b="1" sz="2000">
              <a:solidFill>
                <a:schemeClr val="dk1"/>
              </a:solidFill>
              <a:latin typeface="Calibri"/>
              <a:ea typeface="Calibri"/>
              <a:cs typeface="Calibri"/>
              <a:sym typeface="Calibri"/>
            </a:endParaRPr>
          </a:p>
          <a:p>
            <a:pPr indent="0" lvl="0" marL="1828800" marR="0" rtl="0" algn="just">
              <a:lnSpc>
                <a:spcPct val="100000"/>
              </a:lnSpc>
              <a:spcBef>
                <a:spcPts val="1000"/>
              </a:spcBef>
              <a:spcAft>
                <a:spcPts val="0"/>
              </a:spcAft>
              <a:buNone/>
            </a:pPr>
            <a:r>
              <a:t/>
            </a:r>
            <a:endParaRPr b="1" sz="2000" u="sng">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2"/>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306" name="Google Shape;306;p42"/>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REDUÇÃO DOS ESTOQUES</a:t>
            </a:r>
            <a:endParaRPr b="1" sz="3200">
              <a:solidFill>
                <a:schemeClr val="dk2"/>
              </a:solidFill>
              <a:latin typeface="Calibri"/>
              <a:ea typeface="Calibri"/>
              <a:cs typeface="Calibri"/>
              <a:sym typeface="Calibri"/>
            </a:endParaRPr>
          </a:p>
        </p:txBody>
      </p:sp>
      <p:sp>
        <p:nvSpPr>
          <p:cNvPr id="307" name="Google Shape;307;p42"/>
          <p:cNvSpPr/>
          <p:nvPr/>
        </p:nvSpPr>
        <p:spPr>
          <a:xfrm>
            <a:off x="309700" y="1050550"/>
            <a:ext cx="11325300" cy="50871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Os estoques podem ser  menores se os produtos forem fabricados, comprados e entregues em lotes pequenos; se a programação de  produção for nivelada adequadamente; se os procedimentos de controle da qualidade forem melhorados;  se os equipamentos de produção, manuseio de materiais e transportes tiverem manutenção adequada; se  os produtos forem fabricados quando houver necessidade e nas quantidades exigidas; e assim por diante.   </a:t>
            </a:r>
            <a:endParaRPr sz="2000">
              <a:solidFill>
                <a:schemeClr val="dk1"/>
              </a:solidFill>
              <a:latin typeface="Calibri"/>
              <a:ea typeface="Calibri"/>
              <a:cs typeface="Calibri"/>
              <a:sym typeface="Calibri"/>
            </a:endParaRPr>
          </a:p>
          <a:p>
            <a:pPr indent="-355600" lvl="0" marL="914400" marR="0" rtl="0" algn="just">
              <a:lnSpc>
                <a:spcPct val="100000"/>
              </a:lnSpc>
              <a:spcBef>
                <a:spcPts val="10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Os requisitos de espaço são menores, justificando a disposição das máquinas mais perto umas das outras  e a construção de prédios menores. Reduzir as distâncias entre as máquinas reduz a necessidade de  manuseio.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Cargas menores são movimentadas e armazenadas, justificando o uso de equipamentos alternativos de  manuseio de materiais e armazenagem para cargas pequenas.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A necessidade de armazenagem é reduzida, justificando o uso de sistemas de armazenagem menores  e mais simples e de menos equipamentos de manuseio de materiais para dar suporte às instalações de  armazenagem.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Logo, o prédio pode ser menor, pode ser utilizado um arranjo físico melhor para a planta,  podem ser necessários menos requisitos de manuseio e armazenagem, e equipamentos alternativos de manuseio e armazenagem podem movimentar e armazenar cargas menores.</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3"/>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313" name="Google Shape;313;p43"/>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ENTREGAS NO PONTO DE USO</a:t>
            </a:r>
            <a:endParaRPr b="1" sz="3200">
              <a:solidFill>
                <a:schemeClr val="dk2"/>
              </a:solidFill>
              <a:latin typeface="Calibri"/>
              <a:ea typeface="Calibri"/>
              <a:cs typeface="Calibri"/>
              <a:sym typeface="Calibri"/>
            </a:endParaRPr>
          </a:p>
        </p:txBody>
      </p:sp>
      <p:sp>
        <p:nvSpPr>
          <p:cNvPr id="314" name="Google Shape;314;p43"/>
          <p:cNvSpPr/>
          <p:nvPr/>
        </p:nvSpPr>
        <p:spPr>
          <a:xfrm>
            <a:off x="309700" y="1050550"/>
            <a:ext cx="11325300" cy="50871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Se os produtos são comprados e produzidos em lotes menores, eles devem ser entregues nos pontos de uso  para evitar faltas nos processos que os consomem. Os produtos podem ser entregues nos pontos de uso se  o prédio tiver várias docas de recebimento e se for utilizada uma política de armazenagem descentralizada</a:t>
            </a:r>
            <a:r>
              <a:rPr lang="pt-BR" sz="2000">
                <a:solidFill>
                  <a:schemeClr val="dk1"/>
                </a:solidFill>
                <a:latin typeface="Calibri"/>
                <a:ea typeface="Calibri"/>
                <a:cs typeface="Calibri"/>
                <a:sym typeface="Calibri"/>
              </a:rPr>
              <a:t>.</a:t>
            </a:r>
            <a:br>
              <a:rPr lang="pt-BR" sz="2000">
                <a:solidFill>
                  <a:schemeClr val="dk1"/>
                </a:solidFill>
                <a:latin typeface="Calibri"/>
                <a:ea typeface="Calibri"/>
                <a:cs typeface="Calibri"/>
                <a:sym typeface="Calibri"/>
              </a:rPr>
            </a:br>
            <a:br>
              <a:rPr lang="pt-BR" sz="2000">
                <a:solidFill>
                  <a:schemeClr val="dk1"/>
                </a:solidFill>
                <a:latin typeface="Calibri"/>
                <a:ea typeface="Calibri"/>
                <a:cs typeface="Calibri"/>
                <a:sym typeface="Calibri"/>
              </a:rPr>
            </a:br>
            <a:r>
              <a:rPr lang="pt-BR" sz="2000">
                <a:solidFill>
                  <a:schemeClr val="dk1"/>
                </a:solidFill>
                <a:latin typeface="Calibri"/>
                <a:ea typeface="Calibri"/>
                <a:cs typeface="Calibri"/>
                <a:sym typeface="Calibri"/>
              </a:rPr>
              <a:t>Exemplos:   </a:t>
            </a:r>
            <a:endParaRPr sz="2000">
              <a:solidFill>
                <a:schemeClr val="dk1"/>
              </a:solidFill>
              <a:latin typeface="Calibri"/>
              <a:ea typeface="Calibri"/>
              <a:cs typeface="Calibri"/>
              <a:sym typeface="Calibri"/>
            </a:endParaRPr>
          </a:p>
          <a:p>
            <a:pPr indent="-355600" lvl="0" marL="914400" marR="0" rtl="0" algn="just">
              <a:lnSpc>
                <a:spcPct val="100000"/>
              </a:lnSpc>
              <a:spcBef>
                <a:spcPts val="10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Se as peças vieram de muitos fornecedores, podem ser necessárias várias docas de recebimento em volta  da planta. As docas de recebimento precisam de espaço adicional para estacionamento dos caminhões e  para os equipamentos de descarga, portas etc.</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Pode ser necessária uma política de armazenagem descentralizada para dar suporte às várias docas de  recebimento, podendo ser utilizado um controle de estoque informatizado ou manual</a:t>
            </a: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Se estiver sendo realizado o rearranjo do arranjo físico da fábrica para apoiar os conceitos do JIT, então  as entregas internas nos pontos de uso podem ser realizadas utilizando as alternativas de equipamentos de manuseio de materiais para pequenas cargas e distâncias curtas</a:t>
            </a:r>
            <a:r>
              <a:rPr lang="pt-BR"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Se uma empilhadeira estiver atendendo a diferentes docas de recebimento, ela pode ser carregada com  base na sequência de descarregamento.</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4"/>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320" name="Google Shape;320;p44"/>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QUALIDADE NA ORIGEM</a:t>
            </a:r>
            <a:endParaRPr b="1" sz="3200">
              <a:solidFill>
                <a:schemeClr val="dk2"/>
              </a:solidFill>
              <a:latin typeface="Calibri"/>
              <a:ea typeface="Calibri"/>
              <a:cs typeface="Calibri"/>
              <a:sym typeface="Calibri"/>
            </a:endParaRPr>
          </a:p>
        </p:txBody>
      </p:sp>
      <p:sp>
        <p:nvSpPr>
          <p:cNvPr id="321" name="Google Shape;321;p44"/>
          <p:cNvSpPr/>
          <p:nvPr/>
        </p:nvSpPr>
        <p:spPr>
          <a:xfrm>
            <a:off x="309700" y="1050550"/>
            <a:ext cx="11325300" cy="50871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Considerar que cada processo consumidor deve ser sempre capaz de confiar em receber apenas peças boas de seus fornecedores.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Os processos de transporte, manuseio de materiais e armazenagem devem entregar aos processos seguintes peças com o mesmo nível de qualidade que receberam dos processos que  os precederam. Para se concretizar o conceito de qualidade na origem, podem ser necessários:</a:t>
            </a:r>
            <a:endParaRPr sz="2000">
              <a:solidFill>
                <a:schemeClr val="dk1"/>
              </a:solidFill>
              <a:latin typeface="Calibri"/>
              <a:ea typeface="Calibri"/>
              <a:cs typeface="Calibri"/>
              <a:sym typeface="Calibri"/>
            </a:endParaRPr>
          </a:p>
          <a:p>
            <a:pPr indent="-355600" lvl="0" marL="914400" marR="0" rtl="0" algn="just">
              <a:lnSpc>
                <a:spcPct val="100000"/>
              </a:lnSpc>
              <a:spcBef>
                <a:spcPts val="1000"/>
              </a:spcBef>
              <a:spcAft>
                <a:spcPts val="0"/>
              </a:spcAft>
              <a:buClr>
                <a:schemeClr val="dk1"/>
              </a:buClr>
              <a:buSzPts val="2000"/>
              <a:buFont typeface="Calibri"/>
              <a:buAutoNum type="arabicPeriod"/>
            </a:pPr>
            <a:r>
              <a:rPr lang="pt-BR" sz="2000">
                <a:solidFill>
                  <a:schemeClr val="dk1"/>
                </a:solidFill>
                <a:latin typeface="Calibri"/>
                <a:ea typeface="Calibri"/>
                <a:cs typeface="Calibri"/>
                <a:sym typeface="Calibri"/>
              </a:rPr>
              <a:t>Procedimentos de embalagem, empilhamento e empacotamento para as peças e caixas em paletes ou  contêineres;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AutoNum type="arabicPeriod"/>
            </a:pPr>
            <a:r>
              <a:rPr lang="pt-BR" sz="2000">
                <a:solidFill>
                  <a:schemeClr val="dk1"/>
                </a:solidFill>
                <a:latin typeface="Calibri"/>
                <a:ea typeface="Calibri"/>
                <a:cs typeface="Calibri"/>
                <a:sym typeface="Calibri"/>
              </a:rPr>
              <a:t>Eficiência no transporte, manuseio e armazenagem das peças;</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AutoNum type="arabicPeriod"/>
            </a:pPr>
            <a:r>
              <a:rPr lang="pt-BR" sz="2000">
                <a:solidFill>
                  <a:schemeClr val="dk1"/>
                </a:solidFill>
                <a:latin typeface="Calibri"/>
                <a:ea typeface="Calibri"/>
                <a:cs typeface="Calibri"/>
                <a:sym typeface="Calibri"/>
              </a:rPr>
              <a:t>Um sistema de produção, com suporte de trabalho em equipe, que permita ao trabalhador realizar sua  operação sem pressão de tempo.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Quando implementada a qualidade na origem, se faz necessário os melhores procedimentos  de embalagem, empilhamento e empacotamento; o transporte, a armazenagem e o manuseio devem ser  feitos cuidadosamente; e podem ser empregados sistemas de montagem assíncronos, algumas vezes com  configurações em forma de U. Os sistemas de montagem podem ser apoiados pelo conceito de abordagem  em equipe, podendo ser utilizados procedimentos rápidos de retorno por meio de quadros eletrônicos para  alcançar o balanceamento de linhas.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5"/>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327" name="Google Shape;327;p45"/>
          <p:cNvSpPr txBox="1"/>
          <p:nvPr/>
        </p:nvSpPr>
        <p:spPr>
          <a:xfrm>
            <a:off x="214325" y="0"/>
            <a:ext cx="110019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600">
                <a:solidFill>
                  <a:schemeClr val="dk2"/>
                </a:solidFill>
                <a:latin typeface="Calibri"/>
                <a:ea typeface="Calibri"/>
                <a:cs typeface="Calibri"/>
                <a:sym typeface="Calibri"/>
              </a:rPr>
              <a:t>Sistemas de Produção</a:t>
            </a:r>
            <a:endParaRPr sz="1200"/>
          </a:p>
          <a:p>
            <a:pPr indent="0" lvl="0" marL="0" marR="0" rtl="0" algn="l">
              <a:spcBef>
                <a:spcPts val="0"/>
              </a:spcBef>
              <a:spcAft>
                <a:spcPts val="0"/>
              </a:spcAft>
              <a:buNone/>
            </a:pPr>
            <a:r>
              <a:rPr b="1" lang="pt-BR" sz="2200">
                <a:solidFill>
                  <a:schemeClr val="dk2"/>
                </a:solidFill>
                <a:latin typeface="Calibri"/>
                <a:ea typeface="Calibri"/>
                <a:cs typeface="Calibri"/>
                <a:sym typeface="Calibri"/>
              </a:rPr>
              <a:t>MELHOR COMUNICAÇÃO, BALANCEAMENTO DE LINHAS E TRABALHADORES MULTIFUNCIONAIS</a:t>
            </a:r>
            <a:endParaRPr b="1" sz="1700">
              <a:solidFill>
                <a:schemeClr val="dk2"/>
              </a:solidFill>
              <a:latin typeface="Calibri"/>
              <a:ea typeface="Calibri"/>
              <a:cs typeface="Calibri"/>
              <a:sym typeface="Calibri"/>
            </a:endParaRPr>
          </a:p>
        </p:txBody>
      </p:sp>
      <p:sp>
        <p:nvSpPr>
          <p:cNvPr id="328" name="Google Shape;328;p45"/>
          <p:cNvSpPr/>
          <p:nvPr/>
        </p:nvSpPr>
        <p:spPr>
          <a:xfrm>
            <a:off x="309700" y="1050550"/>
            <a:ext cx="11325300" cy="50871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Em muitos sistemas de produção JIT estão sendo utilizadas linhas de produção em forma de U para promover:</a:t>
            </a:r>
            <a:endParaRPr sz="2000">
              <a:solidFill>
                <a:schemeClr val="dk1"/>
              </a:solidFill>
              <a:latin typeface="Calibri"/>
              <a:ea typeface="Calibri"/>
              <a:cs typeface="Calibri"/>
              <a:sym typeface="Calibri"/>
            </a:endParaRPr>
          </a:p>
          <a:p>
            <a:pPr indent="-355600" lvl="0" marL="914400" marR="0" rtl="0" algn="just">
              <a:lnSpc>
                <a:spcPct val="100000"/>
              </a:lnSpc>
              <a:spcBef>
                <a:spcPts val="10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Uma melhor comunicação entre os trabalhadores;</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Utilizar suas várias capacidades para que possam realizar  operações diferentes;</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Equilibrar facilmente a linha de produção empregando auxílios visuais e abordagem  por equipes.</a:t>
            </a:r>
            <a:br>
              <a:rPr lang="pt-BR" sz="2000">
                <a:solidFill>
                  <a:schemeClr val="dk1"/>
                </a:solidFill>
                <a:latin typeface="Calibri"/>
                <a:ea typeface="Calibri"/>
                <a:cs typeface="Calibri"/>
                <a:sym typeface="Calibri"/>
              </a:rPr>
            </a:b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A maioria dessas aplicações tem sido muito bem-sucedida e incorpora “quadros de problemas”  para descrever os problemas que ocorrem durante o turno, analisá-los no final do turno e gerar métodos de  solução para eliminar a sua ocorrência futura.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br>
              <a:rPr lang="pt-BR" sz="2000">
                <a:solidFill>
                  <a:schemeClr val="dk1"/>
                </a:solidFill>
                <a:latin typeface="Calibri"/>
                <a:ea typeface="Calibri"/>
                <a:cs typeface="Calibri"/>
                <a:sym typeface="Calibri"/>
              </a:rPr>
            </a:br>
            <a:r>
              <a:rPr lang="pt-BR" sz="2000">
                <a:solidFill>
                  <a:schemeClr val="dk1"/>
                </a:solidFill>
                <a:latin typeface="Calibri"/>
                <a:ea typeface="Calibri"/>
                <a:cs typeface="Calibri"/>
                <a:sym typeface="Calibri"/>
              </a:rPr>
              <a:t>As disposições do arranjo físico com  padrões em forma de U minimizam as necessidades de manuseio de materiais (na maioria dos casos, elas  os eliminam).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Clr>
                <a:schemeClr val="dk1"/>
              </a:buClr>
              <a:buSzPts val="1100"/>
              <a:buFont typeface="Arial"/>
              <a:buNone/>
            </a:pPr>
            <a:r>
              <a:rPr lang="pt-BR" sz="2000">
                <a:solidFill>
                  <a:schemeClr val="dk1"/>
                </a:solidFill>
                <a:latin typeface="Calibri"/>
                <a:ea typeface="Calibri"/>
                <a:cs typeface="Calibri"/>
                <a:sym typeface="Calibri"/>
              </a:rPr>
              <a:t>Atua como suporte ao procedimento de puxar a produção com kanbans. Em algumas  empresas em que essa disposição do arranjo físico está em operação, são utilizados estoques transitórios de  uma única peça ou de um único contêiner entre os processos.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Clr>
                <a:schemeClr val="dk1"/>
              </a:buClr>
              <a:buSzPts val="1100"/>
              <a:buFont typeface="Arial"/>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6"/>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334" name="Google Shape;334;p46"/>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LINHAS DE FLUXO EM FORMA DE U</a:t>
            </a:r>
            <a:endParaRPr b="1" sz="3200">
              <a:solidFill>
                <a:schemeClr val="dk2"/>
              </a:solidFill>
              <a:latin typeface="Calibri"/>
              <a:ea typeface="Calibri"/>
              <a:cs typeface="Calibri"/>
              <a:sym typeface="Calibri"/>
            </a:endParaRPr>
          </a:p>
        </p:txBody>
      </p:sp>
      <p:sp>
        <p:nvSpPr>
          <p:cNvPr id="335" name="Google Shape;335;p46"/>
          <p:cNvSpPr/>
          <p:nvPr/>
        </p:nvSpPr>
        <p:spPr>
          <a:xfrm>
            <a:off x="309700" y="1050550"/>
            <a:ext cx="11325300" cy="50871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Uma linha de fluxo em forma de U é uma variação da estrutura de fluxo em linha reta.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Segue o conceito de tecnologia de grupo, em que as peças com características de processamento similares são  agrupadas para serem processadas em uma área comum ou célula de produção.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Clr>
                <a:schemeClr val="dk1"/>
              </a:buClr>
              <a:buSzPts val="1100"/>
              <a:buFont typeface="Arial"/>
              <a:buNone/>
            </a:pPr>
            <a:r>
              <a:rPr lang="pt-BR" sz="2000">
                <a:solidFill>
                  <a:schemeClr val="dk1"/>
                </a:solidFill>
                <a:latin typeface="Calibri"/>
                <a:ea typeface="Calibri"/>
                <a:cs typeface="Calibri"/>
                <a:sym typeface="Calibri"/>
              </a:rPr>
              <a:t>A forma é única no sentido de que permite o uso mais eficiente dos operadores que cuidam das máquinas e promove uma melhor  comunicação entre os trabalhadores.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A transição do processamento tradicional para o processamento em uma linha em U trouxe benefícios  importantes para muitas empresas. Em um estudo de 114 linhas em U americanas e japonesas, Miltenburg relata que:</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Clr>
                <a:schemeClr val="dk1"/>
              </a:buClr>
              <a:buSzPts val="1100"/>
              <a:buFont typeface="Arial"/>
              <a:buNone/>
            </a:pPr>
            <a:r>
              <a:rPr lang="pt-BR" sz="2000">
                <a:solidFill>
                  <a:schemeClr val="dk1"/>
                </a:solidFill>
                <a:latin typeface="Calibri"/>
                <a:ea typeface="Calibri"/>
                <a:cs typeface="Calibri"/>
                <a:sym typeface="Calibri"/>
              </a:rPr>
              <a:t> “a média das linhas em U possui 10,2 máquinas e 3,4 operadores. Cerca de um quarto de  todas as linhas em U é tripulado por um operador e assim é executado no chamado modo de perseguição. Os benefícios relatados são impressionantes. A produtividade aumentou em uma média de 76%. O material  em processo caiu em torno de 86%. O tempo de execução encolheu em 75%. As taxas de defeitos caíram  em 83%”.</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Clr>
                <a:schemeClr val="dk1"/>
              </a:buClr>
              <a:buSzPts val="1100"/>
              <a:buFont typeface="Arial"/>
              <a:buNone/>
            </a:pPr>
            <a:r>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7"/>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341" name="Google Shape;341;p47"/>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LINHAS DE FLUXO EM FORMA DE U</a:t>
            </a:r>
            <a:endParaRPr b="1" sz="3200">
              <a:solidFill>
                <a:schemeClr val="dk2"/>
              </a:solidFill>
              <a:latin typeface="Calibri"/>
              <a:ea typeface="Calibri"/>
              <a:cs typeface="Calibri"/>
              <a:sym typeface="Calibri"/>
            </a:endParaRPr>
          </a:p>
        </p:txBody>
      </p:sp>
      <p:pic>
        <p:nvPicPr>
          <p:cNvPr id="342" name="Google Shape;342;p47"/>
          <p:cNvPicPr preferRelativeResize="0"/>
          <p:nvPr/>
        </p:nvPicPr>
        <p:blipFill>
          <a:blip r:embed="rId3">
            <a:alphaModFix/>
          </a:blip>
          <a:stretch>
            <a:fillRect/>
          </a:stretch>
        </p:blipFill>
        <p:spPr>
          <a:xfrm>
            <a:off x="3072875" y="1050550"/>
            <a:ext cx="5375685" cy="53208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8"/>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348" name="Google Shape;348;p48"/>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LINHAS DE FLUXO EM FORMA DE U</a:t>
            </a:r>
            <a:endParaRPr b="1" sz="3200">
              <a:solidFill>
                <a:schemeClr val="dk2"/>
              </a:solidFill>
              <a:latin typeface="Calibri"/>
              <a:ea typeface="Calibri"/>
              <a:cs typeface="Calibri"/>
              <a:sym typeface="Calibri"/>
            </a:endParaRPr>
          </a:p>
        </p:txBody>
      </p:sp>
      <p:pic>
        <p:nvPicPr>
          <p:cNvPr id="349" name="Google Shape;349;p48"/>
          <p:cNvPicPr preferRelativeResize="0"/>
          <p:nvPr/>
        </p:nvPicPr>
        <p:blipFill>
          <a:blip r:embed="rId3">
            <a:alphaModFix/>
          </a:blip>
          <a:stretch>
            <a:fillRect/>
          </a:stretch>
        </p:blipFill>
        <p:spPr>
          <a:xfrm>
            <a:off x="2547927" y="1370875"/>
            <a:ext cx="6182886" cy="49085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9"/>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355" name="Google Shape;355;p49"/>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LINHAS DE FLUXO EM FORMA DE U</a:t>
            </a:r>
            <a:endParaRPr b="1" sz="3200">
              <a:solidFill>
                <a:schemeClr val="dk2"/>
              </a:solidFill>
              <a:latin typeface="Calibri"/>
              <a:ea typeface="Calibri"/>
              <a:cs typeface="Calibri"/>
              <a:sym typeface="Calibri"/>
            </a:endParaRPr>
          </a:p>
        </p:txBody>
      </p:sp>
      <p:sp>
        <p:nvSpPr>
          <p:cNvPr id="356" name="Google Shape;356;p49"/>
          <p:cNvSpPr/>
          <p:nvPr/>
        </p:nvSpPr>
        <p:spPr>
          <a:xfrm>
            <a:off x="309700" y="1050550"/>
            <a:ext cx="11325300" cy="50871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As linhas em forma de U são escalonáveis, já que são capazes de ajustar a produção da linha a um aumento  ou diminuição nas necessidades de produção com base na taxa de demanda (isto é, a linha é flexível a alterações no volume da produção). </a:t>
            </a:r>
            <a:br>
              <a:rPr lang="pt-BR" sz="2000">
                <a:solidFill>
                  <a:schemeClr val="dk1"/>
                </a:solidFill>
                <a:latin typeface="Calibri"/>
                <a:ea typeface="Calibri"/>
                <a:cs typeface="Calibri"/>
                <a:sym typeface="Calibri"/>
              </a:rPr>
            </a:b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O escalonamento é feito aumentando ou diminuindo a quantidade de operadores que cuidam da máquina. </a:t>
            </a:r>
            <a:br>
              <a:rPr lang="pt-BR" sz="2000">
                <a:solidFill>
                  <a:schemeClr val="dk1"/>
                </a:solidFill>
                <a:latin typeface="Calibri"/>
                <a:ea typeface="Calibri"/>
                <a:cs typeface="Calibri"/>
                <a:sym typeface="Calibri"/>
              </a:rPr>
            </a:br>
            <a:br>
              <a:rPr lang="pt-BR" sz="2000">
                <a:solidFill>
                  <a:schemeClr val="dk1"/>
                </a:solidFill>
                <a:latin typeface="Calibri"/>
                <a:ea typeface="Calibri"/>
                <a:cs typeface="Calibri"/>
                <a:sym typeface="Calibri"/>
              </a:rPr>
            </a:br>
            <a:r>
              <a:rPr lang="pt-BR" sz="2000">
                <a:solidFill>
                  <a:schemeClr val="dk1"/>
                </a:solidFill>
                <a:latin typeface="Calibri"/>
                <a:ea typeface="Calibri"/>
                <a:cs typeface="Calibri"/>
                <a:sym typeface="Calibri"/>
              </a:rPr>
              <a:t>A flexibilidade é alcançada tornando as máquinas móveis para que possam ser novamente arranjadas a  fim de minimizar o tempo de transporte das peças e o tempo que o operador passa caminhando. E também requer que os operadores </a:t>
            </a:r>
            <a:r>
              <a:rPr lang="pt-BR" sz="2000">
                <a:solidFill>
                  <a:schemeClr val="dk1"/>
                </a:solidFill>
                <a:latin typeface="Calibri"/>
                <a:ea typeface="Calibri"/>
                <a:cs typeface="Calibri"/>
                <a:sym typeface="Calibri"/>
              </a:rPr>
              <a:t>realizam</a:t>
            </a:r>
            <a:r>
              <a:rPr lang="pt-BR" sz="2000">
                <a:solidFill>
                  <a:schemeClr val="dk1"/>
                </a:solidFill>
                <a:latin typeface="Calibri"/>
                <a:ea typeface="Calibri"/>
                <a:cs typeface="Calibri"/>
                <a:sym typeface="Calibri"/>
              </a:rPr>
              <a:t> múltiplas tarefas  e que tenham conhecimento e versatilidade suficientes para atenderem a todas as máquinas na célula. Ela  também requer que as tarefas a serem realizadas sejam definidas claramente e que o operador seja treinado  para realizá-las da maneira adequada.  </a:t>
            </a:r>
            <a:br>
              <a:rPr lang="pt-BR" sz="2000">
                <a:solidFill>
                  <a:schemeClr val="dk1"/>
                </a:solidFill>
                <a:latin typeface="Calibri"/>
                <a:ea typeface="Calibri"/>
                <a:cs typeface="Calibri"/>
                <a:sym typeface="Calibri"/>
              </a:rPr>
            </a:br>
            <a:br>
              <a:rPr lang="pt-BR" sz="2000">
                <a:solidFill>
                  <a:schemeClr val="dk1"/>
                </a:solidFill>
                <a:latin typeface="Calibri"/>
                <a:ea typeface="Calibri"/>
                <a:cs typeface="Calibri"/>
                <a:sym typeface="Calibri"/>
              </a:rPr>
            </a:br>
            <a:r>
              <a:rPr lang="pt-BR" sz="2000">
                <a:solidFill>
                  <a:schemeClr val="dk1"/>
                </a:solidFill>
                <a:latin typeface="Calibri"/>
                <a:ea typeface="Calibri"/>
                <a:cs typeface="Calibri"/>
                <a:sym typeface="Calibri"/>
              </a:rPr>
              <a:t>A escalabilidade e a flexibilidade fazem das linhas em U uma das configurações de célula de produção  mais desejáveis.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0"/>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362" name="Google Shape;362;p50"/>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JUST IN TIME (JIT) COMO SISTEMA DE PRODUÇÃO ENXUTA</a:t>
            </a:r>
            <a:endParaRPr b="1" sz="3200">
              <a:solidFill>
                <a:schemeClr val="dk2"/>
              </a:solidFill>
              <a:latin typeface="Calibri"/>
              <a:ea typeface="Calibri"/>
              <a:cs typeface="Calibri"/>
              <a:sym typeface="Calibri"/>
            </a:endParaRPr>
          </a:p>
        </p:txBody>
      </p:sp>
      <p:sp>
        <p:nvSpPr>
          <p:cNvPr id="363" name="Google Shape;363;p50"/>
          <p:cNvSpPr/>
          <p:nvPr/>
        </p:nvSpPr>
        <p:spPr>
          <a:xfrm>
            <a:off x="309700" y="1050550"/>
            <a:ext cx="11325300" cy="50871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Conceitos de produção enxuta:</a:t>
            </a:r>
            <a:endParaRPr sz="2000">
              <a:solidFill>
                <a:schemeClr val="dk1"/>
              </a:solidFill>
              <a:latin typeface="Calibri"/>
              <a:ea typeface="Calibri"/>
              <a:cs typeface="Calibri"/>
              <a:sym typeface="Calibri"/>
            </a:endParaRPr>
          </a:p>
          <a:p>
            <a:pPr indent="-355600" lvl="0" marL="914400" marR="0" rtl="0" algn="just">
              <a:lnSpc>
                <a:spcPct val="100000"/>
              </a:lnSpc>
              <a:spcBef>
                <a:spcPts val="10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Eliminar ou minimizar as atividades não agregadoras de valor.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Produzir apenas o que for demandado.</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Minimizar o uso dos recursos de tempo e espaço.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Produzir no menor tempo de ciclo possível.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Esses conceitos são coerentes com a filosofia de produção just-in-time.  Conceitos JIT:</a:t>
            </a:r>
            <a:endParaRPr sz="2000">
              <a:solidFill>
                <a:schemeClr val="dk1"/>
              </a:solidFill>
              <a:latin typeface="Calibri"/>
              <a:ea typeface="Calibri"/>
              <a:cs typeface="Calibri"/>
              <a:sym typeface="Calibri"/>
            </a:endParaRPr>
          </a:p>
          <a:p>
            <a:pPr indent="-355600" lvl="0" marL="914400" marR="0" rtl="0" algn="just">
              <a:lnSpc>
                <a:spcPct val="100000"/>
              </a:lnSpc>
              <a:spcBef>
                <a:spcPts val="10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Produção sem estoques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Materiais na medida do necessário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Produção em fluxo contínuo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Sistemas de produção com estoque zero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Podemos esperar que o sistema de produção JIT continue a ser refinado pelas necessidades de cada </a:t>
            </a:r>
            <a:r>
              <a:rPr lang="pt-BR" sz="2000">
                <a:solidFill>
                  <a:schemeClr val="dk1"/>
                </a:solidFill>
                <a:latin typeface="Calibri"/>
                <a:ea typeface="Calibri"/>
                <a:cs typeface="Calibri"/>
                <a:sym typeface="Calibri"/>
              </a:rPr>
              <a:t>empresa</a:t>
            </a: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1"/>
          <p:cNvSpPr txBox="1"/>
          <p:nvPr>
            <p:ph idx="12" type="sldNum"/>
          </p:nvPr>
        </p:nvSpPr>
        <p:spPr>
          <a:xfrm>
            <a:off x="11064552" y="6356351"/>
            <a:ext cx="9360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369" name="Google Shape;369;p51"/>
          <p:cNvSpPr txBox="1"/>
          <p:nvPr/>
        </p:nvSpPr>
        <p:spPr>
          <a:xfrm>
            <a:off x="214325" y="188650"/>
            <a:ext cx="10850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2"/>
                </a:solidFill>
                <a:latin typeface="Calibri"/>
                <a:ea typeface="Calibri"/>
                <a:cs typeface="Calibri"/>
                <a:sym typeface="Calibri"/>
              </a:rPr>
              <a:t>Sistemas de Produção</a:t>
            </a:r>
            <a:endParaRPr/>
          </a:p>
          <a:p>
            <a:pPr indent="0" lvl="0" marL="0" marR="0" rtl="0" algn="l">
              <a:spcBef>
                <a:spcPts val="0"/>
              </a:spcBef>
              <a:spcAft>
                <a:spcPts val="0"/>
              </a:spcAft>
              <a:buNone/>
            </a:pPr>
            <a:r>
              <a:rPr b="1" lang="pt-BR" sz="3200">
                <a:solidFill>
                  <a:schemeClr val="dk2"/>
                </a:solidFill>
                <a:latin typeface="Calibri"/>
                <a:ea typeface="Calibri"/>
                <a:cs typeface="Calibri"/>
                <a:sym typeface="Calibri"/>
              </a:rPr>
              <a:t>RESUMO</a:t>
            </a:r>
            <a:endParaRPr b="1" sz="3200">
              <a:solidFill>
                <a:schemeClr val="dk2"/>
              </a:solidFill>
              <a:latin typeface="Calibri"/>
              <a:ea typeface="Calibri"/>
              <a:cs typeface="Calibri"/>
              <a:sym typeface="Calibri"/>
            </a:endParaRPr>
          </a:p>
        </p:txBody>
      </p:sp>
      <p:sp>
        <p:nvSpPr>
          <p:cNvPr id="370" name="Google Shape;370;p51"/>
          <p:cNvSpPr/>
          <p:nvPr/>
        </p:nvSpPr>
        <p:spPr>
          <a:xfrm>
            <a:off x="309700" y="1050550"/>
            <a:ext cx="11325300" cy="5358900"/>
          </a:xfrm>
          <a:prstGeom prst="rect">
            <a:avLst/>
          </a:prstGeom>
          <a:noFill/>
          <a:ln>
            <a:noFill/>
          </a:ln>
        </p:spPr>
        <p:txBody>
          <a:bodyPr anchorCtr="0" anchor="t" bIns="45700" lIns="91425" spcFirstLastPara="1" rIns="91425" wrap="square" tIns="45700">
            <a:noAutofit/>
          </a:bodyPr>
          <a:lstStyle/>
          <a:p>
            <a:pPr indent="-355600" lvl="0" marL="914400" marR="0" rtl="0" algn="just">
              <a:lnSpc>
                <a:spcPct val="100000"/>
              </a:lnSpc>
              <a:spcBef>
                <a:spcPts val="100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O objetivo deste capítulo foi fornecer uma visão resumida dos sistemas de produção que podem impactar  a função de projeto de instalações;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Dependendo da variedade, do volume e do valor dos produtos a serem  processados, serão adequados diferentes níveis de automação, tipos de arranjo físico e sistemas de manuseio de materiais;</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O projeto das linhas de transferência, os sistemas flexíveis de produção e os sistemas de  várias máquinas de estágio único requerem vários dispositivos automatizados de manuseio de materiais;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O  projeto dos sistemas de fluxo para os sistemas de produção automatizados nos remetem às questões fundamentais de arranjo físico;</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A tendência permanente rumo à produção just-in time leva as funções de manuseio de materiais e de arranjo físico para a linha de frente;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Os métodos de arranjo físico baseados nos pressupostos da unidade de produção por encomenda  podem ter que ser esquecidos em favor dos arranjos físicos baseados na produção celular; </a:t>
            </a:r>
            <a:endParaRPr sz="2000">
              <a:solidFill>
                <a:schemeClr val="dk1"/>
              </a:solidFill>
              <a:latin typeface="Calibri"/>
              <a:ea typeface="Calibri"/>
              <a:cs typeface="Calibri"/>
              <a:sym typeface="Calibri"/>
            </a:endParaRPr>
          </a:p>
          <a:p>
            <a:pPr indent="-355600" lvl="0" marL="914400" marR="0" rtl="0" algn="just">
              <a:lnSpc>
                <a:spcPct val="100000"/>
              </a:lnSpc>
              <a:spcBef>
                <a:spcPts val="0"/>
              </a:spcBef>
              <a:spcAft>
                <a:spcPts val="0"/>
              </a:spcAft>
              <a:buClr>
                <a:schemeClr val="dk1"/>
              </a:buClr>
              <a:buSzPts val="2000"/>
              <a:buFont typeface="Calibri"/>
              <a:buChar char="●"/>
            </a:pPr>
            <a:r>
              <a:rPr lang="pt-BR" sz="2000">
                <a:solidFill>
                  <a:schemeClr val="dk1"/>
                </a:solidFill>
                <a:latin typeface="Calibri"/>
                <a:ea typeface="Calibri"/>
                <a:cs typeface="Calibri"/>
                <a:sym typeface="Calibri"/>
              </a:rPr>
              <a:t>O arranjo físico  das linhas em U é um dos mais desejáveis. E talvez venha a haver outras estruturas de  fluxo que possam se somar à configuração da linha em U.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0" marR="0" rtl="0" algn="just">
              <a:lnSpc>
                <a:spcPct val="100000"/>
              </a:lnSpc>
              <a:spcBef>
                <a:spcPts val="1000"/>
              </a:spcBef>
              <a:spcAft>
                <a:spcPts val="0"/>
              </a:spcAft>
              <a:buNone/>
            </a:pPr>
            <a:r>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0"/>
              </a:spcAft>
              <a:buNone/>
            </a:pPr>
            <a:r>
              <a:rPr lang="pt-BR"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914400" marR="0" rtl="0" algn="just">
              <a:lnSpc>
                <a:spcPct val="100000"/>
              </a:lnSpc>
              <a:spcBef>
                <a:spcPts val="1000"/>
              </a:spcBef>
              <a:spcAft>
                <a:spcPts val="100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2"/>
          <p:cNvSpPr txBox="1"/>
          <p:nvPr/>
        </p:nvSpPr>
        <p:spPr>
          <a:xfrm>
            <a:off x="191344" y="222251"/>
            <a:ext cx="5978111" cy="76944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4400">
                <a:solidFill>
                  <a:schemeClr val="dk2"/>
                </a:solidFill>
                <a:latin typeface="Calibri"/>
                <a:ea typeface="Calibri"/>
                <a:cs typeface="Calibri"/>
                <a:sym typeface="Calibri"/>
              </a:rPr>
              <a:t>Referências bibliográficas</a:t>
            </a:r>
            <a:endParaRPr/>
          </a:p>
        </p:txBody>
      </p:sp>
      <p:sp>
        <p:nvSpPr>
          <p:cNvPr id="376" name="Google Shape;376;p52"/>
          <p:cNvSpPr txBox="1"/>
          <p:nvPr>
            <p:ph idx="12" type="sldNum"/>
          </p:nvPr>
        </p:nvSpPr>
        <p:spPr>
          <a:xfrm>
            <a:off x="11064552" y="6356351"/>
            <a:ext cx="93610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sz="2800">
                <a:latin typeface="Arial"/>
                <a:ea typeface="Arial"/>
                <a:cs typeface="Arial"/>
                <a:sym typeface="Arial"/>
              </a:rPr>
              <a:t>‹#›</a:t>
            </a:fld>
            <a:endParaRPr sz="2800">
              <a:latin typeface="Arial"/>
              <a:ea typeface="Arial"/>
              <a:cs typeface="Arial"/>
              <a:sym typeface="Arial"/>
            </a:endParaRPr>
          </a:p>
        </p:txBody>
      </p:sp>
      <p:sp>
        <p:nvSpPr>
          <p:cNvPr id="377" name="Google Shape;377;p52"/>
          <p:cNvSpPr txBox="1"/>
          <p:nvPr/>
        </p:nvSpPr>
        <p:spPr>
          <a:xfrm>
            <a:off x="767408" y="1556792"/>
            <a:ext cx="10657184" cy="4572032"/>
          </a:xfrm>
          <a:prstGeom prst="rect">
            <a:avLst/>
          </a:prstGeom>
          <a:noFill/>
          <a:ln>
            <a:noFill/>
          </a:ln>
        </p:spPr>
        <p:txBody>
          <a:bodyPr anchorCtr="0" anchor="ctr" bIns="45700" lIns="91425" spcFirstLastPara="1" rIns="91425" wrap="square" tIns="45700">
            <a:noAutofit/>
          </a:bodyPr>
          <a:lstStyle/>
          <a:p>
            <a:pPr indent="0" lvl="0" marL="0" marR="0" rtl="0" algn="just">
              <a:spcBef>
                <a:spcPts val="0"/>
              </a:spcBef>
              <a:spcAft>
                <a:spcPts val="0"/>
              </a:spcAft>
              <a:buClr>
                <a:schemeClr val="dk1"/>
              </a:buClr>
              <a:buSzPts val="2400"/>
              <a:buFont typeface="Arial"/>
              <a:buNone/>
            </a:pPr>
            <a:r>
              <a:rPr lang="pt-BR" sz="2400">
                <a:solidFill>
                  <a:schemeClr val="dk1"/>
                </a:solidFill>
                <a:latin typeface="Calibri"/>
                <a:ea typeface="Calibri"/>
                <a:cs typeface="Calibri"/>
                <a:sym typeface="Calibri"/>
              </a:rPr>
              <a:t>TOMPKINS, J. A.; WHITE, J. A.; BOZER, Y. A.; TANCHOCO, J. M. A. </a:t>
            </a:r>
            <a:r>
              <a:rPr b="1" lang="pt-BR" sz="2400">
                <a:solidFill>
                  <a:schemeClr val="dk1"/>
                </a:solidFill>
                <a:latin typeface="Calibri"/>
                <a:ea typeface="Calibri"/>
                <a:cs typeface="Calibri"/>
                <a:sym typeface="Calibri"/>
              </a:rPr>
              <a:t>Planejamento de instalações. </a:t>
            </a:r>
            <a:r>
              <a:rPr lang="pt-BR" sz="2400">
                <a:solidFill>
                  <a:schemeClr val="dk1"/>
                </a:solidFill>
                <a:latin typeface="Calibri"/>
                <a:ea typeface="Calibri"/>
                <a:cs typeface="Calibri"/>
                <a:sym typeface="Calibri"/>
              </a:rPr>
              <a:t>4. ed. Rio de Janeiro: LTC, 2013.</a:t>
            </a:r>
            <a:endParaRPr sz="24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Escritório">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Escritório">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